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Lst>
  <p:sldSz cx="18288000" cy="10287000"/>
  <p:notesSz cx="6858000" cy="9144000"/>
  <p:embeddedFontLst>
    <p:embeddedFont>
      <p:font typeface="DM Sans" panose="020F0502020204030204" pitchFamily="2" charset="0"/>
      <p:regular r:id="rId15"/>
      <p:bold r:id="rId16"/>
    </p:embeddedFont>
    <p:embeddedFont>
      <p:font typeface="DM Sans Bold" panose="020B0604020202020204" charset="0"/>
      <p:regular r:id="rId17"/>
    </p:embeddedFont>
    <p:embeddedFont>
      <p:font typeface="DM Sans Italics" panose="020B0604020202020204" charset="0"/>
      <p:regular r:id="rId18"/>
    </p:embeddedFont>
    <p:embeddedFont>
      <p:font typeface="Montserrat Classic Bold" panose="020B0604020202020204" charset="0"/>
      <p:regular r:id="rId19"/>
    </p:embeddedFont>
    <p:embeddedFont>
      <p:font typeface="Montserrat Light" panose="020F0502020204030204" pitchFamily="2" charset="0"/>
      <p:regular r:id="rId20"/>
    </p:embeddedFont>
    <p:embeddedFont>
      <p:font typeface="Open Sauce Bold" panose="020B0604020202020204" charset="0"/>
      <p:regular r:id="rId21"/>
    </p:embeddedFont>
    <p:embeddedFont>
      <p:font typeface="Oswald" panose="020F0502020204030204" pitchFamily="2" charset="0"/>
      <p:regular r:id="rId22"/>
    </p:embeddedFont>
    <p:embeddedFont>
      <p:font typeface="Oswald Bold"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9" d="100"/>
          <a:sy n="59" d="100"/>
        </p:scale>
        <p:origin x="360" y="17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8.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2.svg"/><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9.svg"/><Relationship Id="rId7"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svg"/><Relationship Id="rId10" Type="http://schemas.openxmlformats.org/officeDocument/2006/relationships/image" Target="../media/image4.png"/><Relationship Id="rId4" Type="http://schemas.openxmlformats.org/officeDocument/2006/relationships/image" Target="../media/image10.svg"/><Relationship Id="rId9" Type="http://schemas.openxmlformats.org/officeDocument/2006/relationships/image" Target="../media/image14.svg"/></Relationships>
</file>

<file path=ppt/slides/_rels/slide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6.jpeg"/></Relationships>
</file>

<file path=ppt/slides/_rels/slide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6.jpeg"/></Relationships>
</file>

<file path=ppt/slides/_rels/slide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6.jpeg"/></Relationships>
</file>

<file path=ppt/slides/_rels/slide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6.jpe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7.svg"/></Relationships>
</file>

<file path=ppt/slides/_rels/slide10.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6.png"/><Relationship Id="rId4" Type="http://schemas.openxmlformats.org/officeDocument/2006/relationships/image" Target="../media/image19.jpeg"/></Relationships>
</file>

<file path=ppt/slides/_rels/slide12.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21.svg"/><Relationship Id="rId7" Type="http://schemas.openxmlformats.org/officeDocument/2006/relationships/image" Target="../media/image23.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2.svg"/><Relationship Id="rId5" Type="http://schemas.openxmlformats.org/officeDocument/2006/relationships/image" Target="../media/image6.png"/><Relationship Id="rId4" Type="http://schemas.openxmlformats.org/officeDocument/2006/relationships/image" Target="../media/image18.sv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2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sp>
        <p:nvSpPr>
          <p:cNvPr id="3" name="Freeform 3"/>
          <p:cNvSpPr/>
          <p:nvPr/>
        </p:nvSpPr>
        <p:spPr>
          <a:xfrm rot="7659121">
            <a:off x="13150592" y="5344017"/>
            <a:ext cx="7629294" cy="7828566"/>
          </a:xfrm>
          <a:custGeom>
            <a:avLst/>
            <a:gdLst/>
            <a:ahLst/>
            <a:cxnLst/>
            <a:rect l="l" t="t" r="r" b="b"/>
            <a:pathLst>
              <a:path w="7629294" h="7828566">
                <a:moveTo>
                  <a:pt x="0" y="0"/>
                </a:moveTo>
                <a:lnTo>
                  <a:pt x="7629294" y="0"/>
                </a:lnTo>
                <a:lnTo>
                  <a:pt x="7629294" y="7828566"/>
                </a:lnTo>
                <a:lnTo>
                  <a:pt x="0" y="782856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3258071" y="-4629150"/>
            <a:ext cx="9022634" cy="9258300"/>
          </a:xfrm>
          <a:custGeom>
            <a:avLst/>
            <a:gdLst/>
            <a:ahLst/>
            <a:cxnLst/>
            <a:rect l="l" t="t" r="r" b="b"/>
            <a:pathLst>
              <a:path w="9022634" h="9258300">
                <a:moveTo>
                  <a:pt x="0" y="0"/>
                </a:moveTo>
                <a:lnTo>
                  <a:pt x="9022634" y="0"/>
                </a:lnTo>
                <a:lnTo>
                  <a:pt x="9022634" y="9258300"/>
                </a:lnTo>
                <a:lnTo>
                  <a:pt x="0" y="9258300"/>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5" name="Group 5"/>
          <p:cNvGrpSpPr/>
          <p:nvPr/>
        </p:nvGrpSpPr>
        <p:grpSpPr>
          <a:xfrm>
            <a:off x="3932989" y="2278524"/>
            <a:ext cx="10422022" cy="3763063"/>
            <a:chOff x="0" y="0"/>
            <a:chExt cx="2012662" cy="726709"/>
          </a:xfrm>
        </p:grpSpPr>
        <p:sp>
          <p:nvSpPr>
            <p:cNvPr id="6" name="Freeform 6"/>
            <p:cNvSpPr/>
            <p:nvPr/>
          </p:nvSpPr>
          <p:spPr>
            <a:xfrm>
              <a:off x="0" y="0"/>
              <a:ext cx="2012662" cy="726709"/>
            </a:xfrm>
            <a:custGeom>
              <a:avLst/>
              <a:gdLst/>
              <a:ahLst/>
              <a:cxnLst/>
              <a:rect l="l" t="t" r="r" b="b"/>
              <a:pathLst>
                <a:path w="2012662" h="726709">
                  <a:moveTo>
                    <a:pt x="0" y="0"/>
                  </a:moveTo>
                  <a:lnTo>
                    <a:pt x="2012662" y="0"/>
                  </a:lnTo>
                  <a:lnTo>
                    <a:pt x="2012662" y="726709"/>
                  </a:lnTo>
                  <a:lnTo>
                    <a:pt x="0" y="726709"/>
                  </a:lnTo>
                  <a:close/>
                </a:path>
              </a:pathLst>
            </a:custGeom>
            <a:solidFill>
              <a:srgbClr val="000000">
                <a:alpha val="0"/>
              </a:srgbClr>
            </a:solidFill>
            <a:ln w="38100" cap="sq">
              <a:solidFill>
                <a:srgbClr val="000000"/>
              </a:solidFill>
              <a:prstDash val="solid"/>
              <a:miter/>
            </a:ln>
          </p:spPr>
        </p:sp>
        <p:sp>
          <p:nvSpPr>
            <p:cNvPr id="7" name="TextBox 7"/>
            <p:cNvSpPr txBox="1"/>
            <p:nvPr/>
          </p:nvSpPr>
          <p:spPr>
            <a:xfrm>
              <a:off x="0" y="-19050"/>
              <a:ext cx="2012662" cy="745759"/>
            </a:xfrm>
            <a:prstGeom prst="rect">
              <a:avLst/>
            </a:prstGeom>
          </p:spPr>
          <p:txBody>
            <a:bodyPr lIns="50800" tIns="50800" rIns="50800" bIns="50800" rtlCol="0" anchor="ctr"/>
            <a:lstStyle/>
            <a:p>
              <a:pPr algn="ctr">
                <a:lnSpc>
                  <a:spcPts val="2859"/>
                </a:lnSpc>
              </a:pPr>
              <a:endParaRPr/>
            </a:p>
          </p:txBody>
        </p:sp>
      </p:grpSp>
      <p:sp>
        <p:nvSpPr>
          <p:cNvPr id="8" name="Freeform 8"/>
          <p:cNvSpPr/>
          <p:nvPr/>
        </p:nvSpPr>
        <p:spPr>
          <a:xfrm>
            <a:off x="16028014" y="793833"/>
            <a:ext cx="596933" cy="613568"/>
          </a:xfrm>
          <a:custGeom>
            <a:avLst/>
            <a:gdLst/>
            <a:ahLst/>
            <a:cxnLst/>
            <a:rect l="l" t="t" r="r" b="b"/>
            <a:pathLst>
              <a:path w="596933" h="613568">
                <a:moveTo>
                  <a:pt x="0" y="0"/>
                </a:moveTo>
                <a:lnTo>
                  <a:pt x="596933" y="0"/>
                </a:lnTo>
                <a:lnTo>
                  <a:pt x="596933" y="613568"/>
                </a:lnTo>
                <a:lnTo>
                  <a:pt x="0" y="613568"/>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TextBox 9"/>
          <p:cNvSpPr txBox="1"/>
          <p:nvPr/>
        </p:nvSpPr>
        <p:spPr>
          <a:xfrm>
            <a:off x="4425314" y="6538147"/>
            <a:ext cx="9437373" cy="884666"/>
          </a:xfrm>
          <a:prstGeom prst="rect">
            <a:avLst/>
          </a:prstGeom>
        </p:spPr>
        <p:txBody>
          <a:bodyPr lIns="0" tIns="0" rIns="0" bIns="0" rtlCol="0" anchor="t">
            <a:spAutoFit/>
          </a:bodyPr>
          <a:lstStyle/>
          <a:p>
            <a:pPr algn="ctr">
              <a:lnSpc>
                <a:spcPts val="7511"/>
              </a:lnSpc>
            </a:pPr>
            <a:r>
              <a:rPr lang="en-US" sz="5442" b="1" spc="533" dirty="0">
                <a:solidFill>
                  <a:srgbClr val="231F20"/>
                </a:solidFill>
                <a:latin typeface="Oswald Bold"/>
                <a:ea typeface="Oswald Bold"/>
                <a:cs typeface="Oswald Bold"/>
                <a:sym typeface="Oswald Bold"/>
              </a:rPr>
              <a:t>PROJECT PPT</a:t>
            </a:r>
          </a:p>
        </p:txBody>
      </p:sp>
      <p:sp>
        <p:nvSpPr>
          <p:cNvPr id="10" name="Freeform 10"/>
          <p:cNvSpPr/>
          <p:nvPr/>
        </p:nvSpPr>
        <p:spPr>
          <a:xfrm>
            <a:off x="15882597" y="656734"/>
            <a:ext cx="887766" cy="887766"/>
          </a:xfrm>
          <a:custGeom>
            <a:avLst/>
            <a:gdLst/>
            <a:ahLst/>
            <a:cxnLst/>
            <a:rect l="l" t="t" r="r" b="b"/>
            <a:pathLst>
              <a:path w="887766" h="887766">
                <a:moveTo>
                  <a:pt x="0" y="0"/>
                </a:moveTo>
                <a:lnTo>
                  <a:pt x="887766" y="0"/>
                </a:lnTo>
                <a:lnTo>
                  <a:pt x="887766" y="887766"/>
                </a:lnTo>
                <a:lnTo>
                  <a:pt x="0" y="887766"/>
                </a:lnTo>
                <a:lnTo>
                  <a:pt x="0" y="0"/>
                </a:lnTo>
                <a:close/>
              </a:path>
            </a:pathLst>
          </a:custGeom>
          <a:blipFill>
            <a:blip r:embed="rId5"/>
            <a:stretch>
              <a:fillRect/>
            </a:stretch>
          </a:blipFill>
        </p:spPr>
      </p:sp>
      <p:sp>
        <p:nvSpPr>
          <p:cNvPr id="12" name="TextBox 12"/>
          <p:cNvSpPr txBox="1"/>
          <p:nvPr/>
        </p:nvSpPr>
        <p:spPr>
          <a:xfrm>
            <a:off x="15393660" y="1538248"/>
            <a:ext cx="1865640" cy="284181"/>
          </a:xfrm>
          <a:prstGeom prst="rect">
            <a:avLst/>
          </a:prstGeom>
        </p:spPr>
        <p:txBody>
          <a:bodyPr lIns="0" tIns="0" rIns="0" bIns="0" rtlCol="0" anchor="t">
            <a:spAutoFit/>
          </a:bodyPr>
          <a:lstStyle/>
          <a:p>
            <a:pPr marL="0" lvl="0" indent="0" algn="ctr">
              <a:lnSpc>
                <a:spcPts val="2394"/>
              </a:lnSpc>
              <a:spcBef>
                <a:spcPct val="0"/>
              </a:spcBef>
            </a:pPr>
            <a:r>
              <a:rPr lang="en-US" sz="1735" b="1" spc="170">
                <a:solidFill>
                  <a:srgbClr val="231F20"/>
                </a:solidFill>
                <a:latin typeface="Montserrat Classic Bold"/>
                <a:ea typeface="Montserrat Classic Bold"/>
                <a:cs typeface="Montserrat Classic Bold"/>
                <a:sym typeface="Montserrat Classic Bold"/>
              </a:rPr>
              <a:t>VHC</a:t>
            </a:r>
          </a:p>
        </p:txBody>
      </p:sp>
      <p:sp>
        <p:nvSpPr>
          <p:cNvPr id="13" name="TextBox 13"/>
          <p:cNvSpPr txBox="1"/>
          <p:nvPr/>
        </p:nvSpPr>
        <p:spPr>
          <a:xfrm>
            <a:off x="3932989" y="2332738"/>
            <a:ext cx="10422022" cy="3343952"/>
          </a:xfrm>
          <a:prstGeom prst="rect">
            <a:avLst/>
          </a:prstGeom>
        </p:spPr>
        <p:txBody>
          <a:bodyPr lIns="0" tIns="0" rIns="0" bIns="0" rtlCol="0" anchor="t">
            <a:spAutoFit/>
          </a:bodyPr>
          <a:lstStyle/>
          <a:p>
            <a:pPr marL="0" lvl="0" indent="0" algn="ctr">
              <a:lnSpc>
                <a:spcPts val="13446"/>
              </a:lnSpc>
              <a:spcBef>
                <a:spcPct val="0"/>
              </a:spcBef>
            </a:pPr>
            <a:r>
              <a:rPr lang="en-US" sz="9744" b="1" spc="954">
                <a:solidFill>
                  <a:srgbClr val="231F20"/>
                </a:solidFill>
                <a:latin typeface="Oswald Bold"/>
                <a:ea typeface="Oswald Bold"/>
                <a:cs typeface="Oswald Bold"/>
                <a:sym typeface="Oswald Bold"/>
              </a:rPr>
              <a:t>VIRTUAL HEALTHCARE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4F5"/>
        </a:solidFill>
        <a:effectLst/>
      </p:bgPr>
    </p:bg>
    <p:spTree>
      <p:nvGrpSpPr>
        <p:cNvPr id="1" name=""/>
        <p:cNvGrpSpPr/>
        <p:nvPr/>
      </p:nvGrpSpPr>
      <p:grpSpPr>
        <a:xfrm>
          <a:off x="0" y="0"/>
          <a:ext cx="0" cy="0"/>
          <a:chOff x="0" y="0"/>
          <a:chExt cx="0" cy="0"/>
        </a:xfrm>
      </p:grpSpPr>
      <p:sp>
        <p:nvSpPr>
          <p:cNvPr id="2" name="Freeform 2"/>
          <p:cNvSpPr/>
          <p:nvPr/>
        </p:nvSpPr>
        <p:spPr>
          <a:xfrm rot="7659121">
            <a:off x="-4012602" y="5585714"/>
            <a:ext cx="7629294" cy="7828566"/>
          </a:xfrm>
          <a:custGeom>
            <a:avLst/>
            <a:gdLst/>
            <a:ahLst/>
            <a:cxnLst/>
            <a:rect l="l" t="t" r="r" b="b"/>
            <a:pathLst>
              <a:path w="7629294" h="7828566">
                <a:moveTo>
                  <a:pt x="0" y="0"/>
                </a:moveTo>
                <a:lnTo>
                  <a:pt x="7629294" y="0"/>
                </a:lnTo>
                <a:lnTo>
                  <a:pt x="7629294" y="7828566"/>
                </a:lnTo>
                <a:lnTo>
                  <a:pt x="0" y="7828566"/>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5019320" y="2901697"/>
            <a:ext cx="1400485" cy="5289803"/>
            <a:chOff x="0" y="0"/>
            <a:chExt cx="368852" cy="1710138"/>
          </a:xfrm>
        </p:grpSpPr>
        <p:sp>
          <p:nvSpPr>
            <p:cNvPr id="4" name="Freeform 4"/>
            <p:cNvSpPr/>
            <p:nvPr/>
          </p:nvSpPr>
          <p:spPr>
            <a:xfrm>
              <a:off x="0" y="0"/>
              <a:ext cx="368852" cy="1710137"/>
            </a:xfrm>
            <a:custGeom>
              <a:avLst/>
              <a:gdLst/>
              <a:ahLst/>
              <a:cxnLst/>
              <a:rect l="l" t="t" r="r" b="b"/>
              <a:pathLst>
                <a:path w="368852" h="1710137">
                  <a:moveTo>
                    <a:pt x="0" y="0"/>
                  </a:moveTo>
                  <a:lnTo>
                    <a:pt x="368852" y="0"/>
                  </a:lnTo>
                  <a:lnTo>
                    <a:pt x="368852" y="1710137"/>
                  </a:lnTo>
                  <a:lnTo>
                    <a:pt x="0" y="1710137"/>
                  </a:lnTo>
                  <a:close/>
                </a:path>
              </a:pathLst>
            </a:custGeom>
            <a:solidFill>
              <a:srgbClr val="CCCCCC"/>
            </a:solidFill>
          </p:spPr>
        </p:sp>
        <p:sp>
          <p:nvSpPr>
            <p:cNvPr id="5" name="TextBox 5"/>
            <p:cNvSpPr txBox="1"/>
            <p:nvPr/>
          </p:nvSpPr>
          <p:spPr>
            <a:xfrm>
              <a:off x="0" y="-19050"/>
              <a:ext cx="368852" cy="1729188"/>
            </a:xfrm>
            <a:prstGeom prst="rect">
              <a:avLst/>
            </a:prstGeom>
          </p:spPr>
          <p:txBody>
            <a:bodyPr lIns="50800" tIns="50800" rIns="50800" bIns="50800" rtlCol="0" anchor="ctr"/>
            <a:lstStyle/>
            <a:p>
              <a:pPr algn="ctr">
                <a:lnSpc>
                  <a:spcPts val="2859"/>
                </a:lnSpc>
              </a:pPr>
              <a:endParaRPr/>
            </a:p>
          </p:txBody>
        </p:sp>
      </p:grpSp>
      <p:sp>
        <p:nvSpPr>
          <p:cNvPr id="6" name="TextBox 6"/>
          <p:cNvSpPr txBox="1"/>
          <p:nvPr/>
        </p:nvSpPr>
        <p:spPr>
          <a:xfrm>
            <a:off x="4980992" y="1036994"/>
            <a:ext cx="7416941" cy="1683727"/>
          </a:xfrm>
          <a:prstGeom prst="rect">
            <a:avLst/>
          </a:prstGeom>
        </p:spPr>
        <p:txBody>
          <a:bodyPr lIns="0" tIns="0" rIns="0" bIns="0" rtlCol="0" anchor="t">
            <a:spAutoFit/>
          </a:bodyPr>
          <a:lstStyle/>
          <a:p>
            <a:pPr algn="ctr">
              <a:lnSpc>
                <a:spcPts val="13774"/>
              </a:lnSpc>
            </a:pPr>
            <a:r>
              <a:rPr lang="en-US" sz="9981" b="1" spc="978">
                <a:solidFill>
                  <a:srgbClr val="231F20"/>
                </a:solidFill>
                <a:latin typeface="Oswald Bold"/>
                <a:ea typeface="Oswald Bold"/>
                <a:cs typeface="Oswald Bold"/>
                <a:sym typeface="Oswald Bold"/>
              </a:rPr>
              <a:t>CONTENT</a:t>
            </a:r>
          </a:p>
        </p:txBody>
      </p:sp>
      <p:sp>
        <p:nvSpPr>
          <p:cNvPr id="7" name="Freeform 7"/>
          <p:cNvSpPr/>
          <p:nvPr/>
        </p:nvSpPr>
        <p:spPr>
          <a:xfrm rot="2016048">
            <a:off x="12243487" y="-1005305"/>
            <a:ext cx="10749463" cy="2687366"/>
          </a:xfrm>
          <a:custGeom>
            <a:avLst/>
            <a:gdLst/>
            <a:ahLst/>
            <a:cxnLst/>
            <a:rect l="l" t="t" r="r" b="b"/>
            <a:pathLst>
              <a:path w="10749463" h="2687366">
                <a:moveTo>
                  <a:pt x="0" y="0"/>
                </a:moveTo>
                <a:lnTo>
                  <a:pt x="10749463" y="0"/>
                </a:lnTo>
                <a:lnTo>
                  <a:pt x="10749463" y="2687365"/>
                </a:lnTo>
                <a:lnTo>
                  <a:pt x="0" y="268736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5231353" y="3225185"/>
            <a:ext cx="937219" cy="657225"/>
          </a:xfrm>
          <a:prstGeom prst="rect">
            <a:avLst/>
          </a:prstGeom>
        </p:spPr>
        <p:txBody>
          <a:bodyPr lIns="0" tIns="0" rIns="0" bIns="0" rtlCol="0" anchor="t">
            <a:spAutoFit/>
          </a:bodyPr>
          <a:lstStyle/>
          <a:p>
            <a:pPr algn="ctr">
              <a:lnSpc>
                <a:spcPts val="5126"/>
              </a:lnSpc>
            </a:pPr>
            <a:r>
              <a:rPr lang="en-US" sz="4271" b="1" i="1">
                <a:solidFill>
                  <a:srgbClr val="363636"/>
                </a:solidFill>
                <a:latin typeface="Oswald Bold"/>
                <a:ea typeface="Oswald Bold"/>
                <a:cs typeface="Oswald Bold"/>
                <a:sym typeface="Oswald Bold"/>
              </a:rPr>
              <a:t>01</a:t>
            </a:r>
          </a:p>
        </p:txBody>
      </p:sp>
      <p:sp>
        <p:nvSpPr>
          <p:cNvPr id="9" name="TextBox 9"/>
          <p:cNvSpPr txBox="1"/>
          <p:nvPr/>
        </p:nvSpPr>
        <p:spPr>
          <a:xfrm>
            <a:off x="5231353" y="4022304"/>
            <a:ext cx="937219" cy="657225"/>
          </a:xfrm>
          <a:prstGeom prst="rect">
            <a:avLst/>
          </a:prstGeom>
        </p:spPr>
        <p:txBody>
          <a:bodyPr lIns="0" tIns="0" rIns="0" bIns="0" rtlCol="0" anchor="t">
            <a:spAutoFit/>
          </a:bodyPr>
          <a:lstStyle/>
          <a:p>
            <a:pPr algn="ctr">
              <a:lnSpc>
                <a:spcPts val="5126"/>
              </a:lnSpc>
            </a:pPr>
            <a:r>
              <a:rPr lang="en-US" sz="4271" b="1" i="1" dirty="0">
                <a:solidFill>
                  <a:srgbClr val="363636"/>
                </a:solidFill>
                <a:latin typeface="Oswald Bold"/>
                <a:ea typeface="Oswald Bold"/>
                <a:cs typeface="Oswald Bold"/>
                <a:sym typeface="Oswald Bold"/>
              </a:rPr>
              <a:t>02</a:t>
            </a:r>
          </a:p>
        </p:txBody>
      </p:sp>
      <p:sp>
        <p:nvSpPr>
          <p:cNvPr id="10" name="TextBox 10"/>
          <p:cNvSpPr txBox="1"/>
          <p:nvPr/>
        </p:nvSpPr>
        <p:spPr>
          <a:xfrm>
            <a:off x="5231353" y="4903461"/>
            <a:ext cx="937219" cy="657225"/>
          </a:xfrm>
          <a:prstGeom prst="rect">
            <a:avLst/>
          </a:prstGeom>
        </p:spPr>
        <p:txBody>
          <a:bodyPr lIns="0" tIns="0" rIns="0" bIns="0" rtlCol="0" anchor="t">
            <a:spAutoFit/>
          </a:bodyPr>
          <a:lstStyle/>
          <a:p>
            <a:pPr algn="ctr">
              <a:lnSpc>
                <a:spcPts val="5126"/>
              </a:lnSpc>
            </a:pPr>
            <a:r>
              <a:rPr lang="en-US" sz="4271" b="1" i="1">
                <a:solidFill>
                  <a:srgbClr val="363636"/>
                </a:solidFill>
                <a:latin typeface="Oswald Bold"/>
                <a:ea typeface="Oswald Bold"/>
                <a:cs typeface="Oswald Bold"/>
                <a:sym typeface="Oswald Bold"/>
              </a:rPr>
              <a:t>03</a:t>
            </a:r>
          </a:p>
        </p:txBody>
      </p:sp>
      <p:sp>
        <p:nvSpPr>
          <p:cNvPr id="11" name="TextBox 11"/>
          <p:cNvSpPr txBox="1"/>
          <p:nvPr/>
        </p:nvSpPr>
        <p:spPr>
          <a:xfrm>
            <a:off x="5231353" y="5700580"/>
            <a:ext cx="937219" cy="657225"/>
          </a:xfrm>
          <a:prstGeom prst="rect">
            <a:avLst/>
          </a:prstGeom>
        </p:spPr>
        <p:txBody>
          <a:bodyPr lIns="0" tIns="0" rIns="0" bIns="0" rtlCol="0" anchor="t">
            <a:spAutoFit/>
          </a:bodyPr>
          <a:lstStyle/>
          <a:p>
            <a:pPr algn="ctr">
              <a:lnSpc>
                <a:spcPts val="5126"/>
              </a:lnSpc>
            </a:pPr>
            <a:r>
              <a:rPr lang="en-US" sz="4271" b="1" i="1">
                <a:solidFill>
                  <a:srgbClr val="363636"/>
                </a:solidFill>
                <a:latin typeface="Oswald Bold"/>
                <a:ea typeface="Oswald Bold"/>
                <a:cs typeface="Oswald Bold"/>
                <a:sym typeface="Oswald Bold"/>
              </a:rPr>
              <a:t>04</a:t>
            </a:r>
          </a:p>
        </p:txBody>
      </p:sp>
      <p:sp>
        <p:nvSpPr>
          <p:cNvPr id="12" name="TextBox 12"/>
          <p:cNvSpPr txBox="1"/>
          <p:nvPr/>
        </p:nvSpPr>
        <p:spPr>
          <a:xfrm>
            <a:off x="5250954" y="6492957"/>
            <a:ext cx="937219" cy="657225"/>
          </a:xfrm>
          <a:prstGeom prst="rect">
            <a:avLst/>
          </a:prstGeom>
        </p:spPr>
        <p:txBody>
          <a:bodyPr lIns="0" tIns="0" rIns="0" bIns="0" rtlCol="0" anchor="t">
            <a:spAutoFit/>
          </a:bodyPr>
          <a:lstStyle/>
          <a:p>
            <a:pPr algn="ctr">
              <a:lnSpc>
                <a:spcPts val="5126"/>
              </a:lnSpc>
            </a:pPr>
            <a:r>
              <a:rPr lang="en-US" sz="4271" b="1" i="1">
                <a:solidFill>
                  <a:srgbClr val="363636"/>
                </a:solidFill>
                <a:latin typeface="Oswald Bold"/>
                <a:ea typeface="Oswald Bold"/>
                <a:cs typeface="Oswald Bold"/>
                <a:sym typeface="Oswald Bold"/>
              </a:rPr>
              <a:t>05</a:t>
            </a:r>
          </a:p>
        </p:txBody>
      </p:sp>
      <p:sp>
        <p:nvSpPr>
          <p:cNvPr id="13" name="TextBox 13"/>
          <p:cNvSpPr txBox="1"/>
          <p:nvPr/>
        </p:nvSpPr>
        <p:spPr>
          <a:xfrm>
            <a:off x="5250954" y="7323921"/>
            <a:ext cx="937219" cy="657225"/>
          </a:xfrm>
          <a:prstGeom prst="rect">
            <a:avLst/>
          </a:prstGeom>
        </p:spPr>
        <p:txBody>
          <a:bodyPr lIns="0" tIns="0" rIns="0" bIns="0" rtlCol="0" anchor="t">
            <a:spAutoFit/>
          </a:bodyPr>
          <a:lstStyle/>
          <a:p>
            <a:pPr algn="ctr">
              <a:lnSpc>
                <a:spcPts val="5126"/>
              </a:lnSpc>
            </a:pPr>
            <a:r>
              <a:rPr lang="en-US" sz="4271" b="1" i="1">
                <a:solidFill>
                  <a:srgbClr val="363636"/>
                </a:solidFill>
                <a:latin typeface="Oswald Bold"/>
                <a:ea typeface="Oswald Bold"/>
                <a:cs typeface="Oswald Bold"/>
                <a:sym typeface="Oswald Bold"/>
              </a:rPr>
              <a:t>06</a:t>
            </a:r>
          </a:p>
        </p:txBody>
      </p:sp>
      <p:sp>
        <p:nvSpPr>
          <p:cNvPr id="15" name="TextBox 15"/>
          <p:cNvSpPr txBox="1"/>
          <p:nvPr/>
        </p:nvSpPr>
        <p:spPr>
          <a:xfrm>
            <a:off x="6607430" y="3333137"/>
            <a:ext cx="5790503" cy="418548"/>
          </a:xfrm>
          <a:prstGeom prst="rect">
            <a:avLst/>
          </a:prstGeom>
        </p:spPr>
        <p:txBody>
          <a:bodyPr lIns="0" tIns="0" rIns="0" bIns="0" rtlCol="0" anchor="t">
            <a:spAutoFit/>
          </a:bodyPr>
          <a:lstStyle/>
          <a:p>
            <a:pPr algn="l">
              <a:lnSpc>
                <a:spcPts val="3483"/>
              </a:lnSpc>
            </a:pPr>
            <a:r>
              <a:rPr lang="en-US" sz="2524" spc="247">
                <a:solidFill>
                  <a:srgbClr val="231F20"/>
                </a:solidFill>
                <a:latin typeface="DM Sans"/>
                <a:ea typeface="DM Sans"/>
                <a:cs typeface="DM Sans"/>
                <a:sym typeface="DM Sans"/>
              </a:rPr>
              <a:t>ABOUT</a:t>
            </a:r>
          </a:p>
        </p:txBody>
      </p:sp>
      <p:sp>
        <p:nvSpPr>
          <p:cNvPr id="16" name="TextBox 16"/>
          <p:cNvSpPr txBox="1"/>
          <p:nvPr/>
        </p:nvSpPr>
        <p:spPr>
          <a:xfrm>
            <a:off x="6607430" y="4127355"/>
            <a:ext cx="6076629" cy="429092"/>
          </a:xfrm>
          <a:prstGeom prst="rect">
            <a:avLst/>
          </a:prstGeom>
        </p:spPr>
        <p:txBody>
          <a:bodyPr lIns="0" tIns="0" rIns="0" bIns="0" rtlCol="0" anchor="t">
            <a:spAutoFit/>
          </a:bodyPr>
          <a:lstStyle/>
          <a:p>
            <a:pPr algn="l">
              <a:lnSpc>
                <a:spcPts val="3483"/>
              </a:lnSpc>
            </a:pPr>
            <a:r>
              <a:rPr lang="en-US" sz="2524" spc="247" dirty="0">
                <a:solidFill>
                  <a:srgbClr val="231F20"/>
                </a:solidFill>
                <a:latin typeface="DM Sans"/>
                <a:ea typeface="DM Sans"/>
                <a:cs typeface="DM Sans"/>
                <a:sym typeface="DM Sans"/>
              </a:rPr>
              <a:t>AIM</a:t>
            </a:r>
          </a:p>
        </p:txBody>
      </p:sp>
      <p:sp>
        <p:nvSpPr>
          <p:cNvPr id="17" name="TextBox 17"/>
          <p:cNvSpPr txBox="1"/>
          <p:nvPr/>
        </p:nvSpPr>
        <p:spPr>
          <a:xfrm>
            <a:off x="6607430" y="5047445"/>
            <a:ext cx="5790503" cy="429092"/>
          </a:xfrm>
          <a:prstGeom prst="rect">
            <a:avLst/>
          </a:prstGeom>
        </p:spPr>
        <p:txBody>
          <a:bodyPr lIns="0" tIns="0" rIns="0" bIns="0" rtlCol="0" anchor="t">
            <a:spAutoFit/>
          </a:bodyPr>
          <a:lstStyle/>
          <a:p>
            <a:pPr marL="0" lvl="0" indent="0" algn="l">
              <a:lnSpc>
                <a:spcPts val="3483"/>
              </a:lnSpc>
              <a:spcBef>
                <a:spcPct val="0"/>
              </a:spcBef>
            </a:pPr>
            <a:r>
              <a:rPr lang="en-US" sz="2524" spc="247" dirty="0">
                <a:solidFill>
                  <a:srgbClr val="231F20"/>
                </a:solidFill>
                <a:latin typeface="DM Sans"/>
                <a:ea typeface="DM Sans"/>
                <a:cs typeface="DM Sans"/>
                <a:sym typeface="DM Sans"/>
              </a:rPr>
              <a:t>SERVICES</a:t>
            </a:r>
          </a:p>
        </p:txBody>
      </p:sp>
      <p:sp>
        <p:nvSpPr>
          <p:cNvPr id="18" name="TextBox 18"/>
          <p:cNvSpPr txBox="1"/>
          <p:nvPr/>
        </p:nvSpPr>
        <p:spPr>
          <a:xfrm>
            <a:off x="6607430" y="5841663"/>
            <a:ext cx="6076629" cy="429092"/>
          </a:xfrm>
          <a:prstGeom prst="rect">
            <a:avLst/>
          </a:prstGeom>
        </p:spPr>
        <p:txBody>
          <a:bodyPr lIns="0" tIns="0" rIns="0" bIns="0" rtlCol="0" anchor="t">
            <a:spAutoFit/>
          </a:bodyPr>
          <a:lstStyle/>
          <a:p>
            <a:pPr marL="0" lvl="0" indent="0" algn="l">
              <a:lnSpc>
                <a:spcPts val="3483"/>
              </a:lnSpc>
              <a:spcBef>
                <a:spcPct val="0"/>
              </a:spcBef>
            </a:pPr>
            <a:r>
              <a:rPr lang="en-US" sz="2524" spc="247" dirty="0">
                <a:solidFill>
                  <a:srgbClr val="231F20"/>
                </a:solidFill>
                <a:latin typeface="DM Sans"/>
                <a:ea typeface="DM Sans"/>
                <a:cs typeface="DM Sans"/>
                <a:sym typeface="DM Sans"/>
              </a:rPr>
              <a:t>DOMAIN</a:t>
            </a:r>
          </a:p>
        </p:txBody>
      </p:sp>
      <p:sp>
        <p:nvSpPr>
          <p:cNvPr id="19" name="TextBox 19"/>
          <p:cNvSpPr txBox="1"/>
          <p:nvPr/>
        </p:nvSpPr>
        <p:spPr>
          <a:xfrm>
            <a:off x="6607430" y="6642507"/>
            <a:ext cx="6651370" cy="429092"/>
          </a:xfrm>
          <a:prstGeom prst="rect">
            <a:avLst/>
          </a:prstGeom>
        </p:spPr>
        <p:txBody>
          <a:bodyPr wrap="square" lIns="0" tIns="0" rIns="0" bIns="0" rtlCol="0" anchor="t">
            <a:spAutoFit/>
          </a:bodyPr>
          <a:lstStyle/>
          <a:p>
            <a:pPr marL="0" lvl="0" indent="0" algn="l">
              <a:lnSpc>
                <a:spcPts val="3483"/>
              </a:lnSpc>
              <a:spcBef>
                <a:spcPct val="0"/>
              </a:spcBef>
            </a:pPr>
            <a:r>
              <a:rPr lang="en-US" sz="2524" spc="247" dirty="0">
                <a:solidFill>
                  <a:srgbClr val="231F20"/>
                </a:solidFill>
                <a:latin typeface="DM Sans"/>
                <a:ea typeface="DM Sans"/>
                <a:cs typeface="DM Sans"/>
                <a:sym typeface="DM Sans"/>
              </a:rPr>
              <a:t>PROBLEMS SOLVED BY THIS PROJECT</a:t>
            </a:r>
          </a:p>
        </p:txBody>
      </p:sp>
      <p:sp>
        <p:nvSpPr>
          <p:cNvPr id="20" name="TextBox 20"/>
          <p:cNvSpPr txBox="1"/>
          <p:nvPr/>
        </p:nvSpPr>
        <p:spPr>
          <a:xfrm>
            <a:off x="6607430" y="7434884"/>
            <a:ext cx="7330961" cy="429092"/>
          </a:xfrm>
          <a:prstGeom prst="rect">
            <a:avLst/>
          </a:prstGeom>
        </p:spPr>
        <p:txBody>
          <a:bodyPr lIns="0" tIns="0" rIns="0" bIns="0" rtlCol="0" anchor="t">
            <a:spAutoFit/>
          </a:bodyPr>
          <a:lstStyle/>
          <a:p>
            <a:pPr marL="0" lvl="0" indent="0" algn="l">
              <a:lnSpc>
                <a:spcPts val="3483"/>
              </a:lnSpc>
              <a:spcBef>
                <a:spcPct val="0"/>
              </a:spcBef>
            </a:pPr>
            <a:r>
              <a:rPr lang="en-US" sz="2524" spc="247" dirty="0">
                <a:solidFill>
                  <a:srgbClr val="231F20"/>
                </a:solidFill>
                <a:latin typeface="DM Sans"/>
                <a:ea typeface="DM Sans"/>
                <a:cs typeface="DM Sans"/>
                <a:sym typeface="DM Sans"/>
              </a:rPr>
              <a:t>STRATEGIES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grpSp>
        <p:nvGrpSpPr>
          <p:cNvPr id="3" name="Group 3"/>
          <p:cNvGrpSpPr/>
          <p:nvPr/>
        </p:nvGrpSpPr>
        <p:grpSpPr>
          <a:xfrm>
            <a:off x="13662994" y="337474"/>
            <a:ext cx="4296549" cy="9570246"/>
            <a:chOff x="0" y="0"/>
            <a:chExt cx="1131601" cy="2520559"/>
          </a:xfrm>
        </p:grpSpPr>
        <p:sp>
          <p:nvSpPr>
            <p:cNvPr id="4" name="Freeform 4"/>
            <p:cNvSpPr/>
            <p:nvPr/>
          </p:nvSpPr>
          <p:spPr>
            <a:xfrm>
              <a:off x="0" y="0"/>
              <a:ext cx="1131601" cy="2520559"/>
            </a:xfrm>
            <a:custGeom>
              <a:avLst/>
              <a:gdLst/>
              <a:ahLst/>
              <a:cxnLst/>
              <a:rect l="l" t="t" r="r" b="b"/>
              <a:pathLst>
                <a:path w="1131601" h="2520559">
                  <a:moveTo>
                    <a:pt x="0" y="0"/>
                  </a:moveTo>
                  <a:lnTo>
                    <a:pt x="1131601" y="0"/>
                  </a:lnTo>
                  <a:lnTo>
                    <a:pt x="1131601" y="2520559"/>
                  </a:lnTo>
                  <a:lnTo>
                    <a:pt x="0" y="2520559"/>
                  </a:lnTo>
                  <a:close/>
                </a:path>
              </a:pathLst>
            </a:custGeom>
            <a:solidFill>
              <a:srgbClr val="CCCCCC"/>
            </a:solidFill>
          </p:spPr>
        </p:sp>
        <p:sp>
          <p:nvSpPr>
            <p:cNvPr id="5" name="TextBox 5"/>
            <p:cNvSpPr txBox="1"/>
            <p:nvPr/>
          </p:nvSpPr>
          <p:spPr>
            <a:xfrm>
              <a:off x="0" y="-19050"/>
              <a:ext cx="1131601" cy="2539609"/>
            </a:xfrm>
            <a:prstGeom prst="rect">
              <a:avLst/>
            </a:prstGeom>
          </p:spPr>
          <p:txBody>
            <a:bodyPr lIns="50800" tIns="50800" rIns="50800" bIns="50800" rtlCol="0" anchor="ctr"/>
            <a:lstStyle/>
            <a:p>
              <a:pPr algn="ctr">
                <a:lnSpc>
                  <a:spcPts val="2859"/>
                </a:lnSpc>
              </a:pPr>
              <a:endParaRPr/>
            </a:p>
          </p:txBody>
        </p:sp>
      </p:grpSp>
      <p:sp>
        <p:nvSpPr>
          <p:cNvPr id="6" name="Freeform 6"/>
          <p:cNvSpPr/>
          <p:nvPr/>
        </p:nvSpPr>
        <p:spPr>
          <a:xfrm>
            <a:off x="2142191" y="4828880"/>
            <a:ext cx="9752965" cy="1032847"/>
          </a:xfrm>
          <a:custGeom>
            <a:avLst/>
            <a:gdLst/>
            <a:ahLst/>
            <a:cxnLst/>
            <a:rect l="l" t="t" r="r" b="b"/>
            <a:pathLst>
              <a:path w="9752965" h="1032847">
                <a:moveTo>
                  <a:pt x="0" y="0"/>
                </a:moveTo>
                <a:lnTo>
                  <a:pt x="9752965" y="0"/>
                </a:lnTo>
                <a:lnTo>
                  <a:pt x="9752965" y="1032847"/>
                </a:lnTo>
                <a:lnTo>
                  <a:pt x="0" y="1032847"/>
                </a:lnTo>
                <a:lnTo>
                  <a:pt x="0" y="0"/>
                </a:lnTo>
                <a:close/>
              </a:path>
            </a:pathLst>
          </a:custGeom>
          <a:blipFill>
            <a:blip r:embed="rId3"/>
            <a:stretch>
              <a:fillRect t="-86495"/>
            </a:stretch>
          </a:blipFill>
        </p:spPr>
      </p:sp>
      <p:sp>
        <p:nvSpPr>
          <p:cNvPr id="7" name="Freeform 7"/>
          <p:cNvSpPr/>
          <p:nvPr/>
        </p:nvSpPr>
        <p:spPr>
          <a:xfrm>
            <a:off x="10758785" y="1049603"/>
            <a:ext cx="6176060" cy="8208697"/>
          </a:xfrm>
          <a:custGeom>
            <a:avLst/>
            <a:gdLst/>
            <a:ahLst/>
            <a:cxnLst/>
            <a:rect l="l" t="t" r="r" b="b"/>
            <a:pathLst>
              <a:path w="6176060" h="8208697">
                <a:moveTo>
                  <a:pt x="0" y="0"/>
                </a:moveTo>
                <a:lnTo>
                  <a:pt x="6176060" y="0"/>
                </a:lnTo>
                <a:lnTo>
                  <a:pt x="6176060" y="8208697"/>
                </a:lnTo>
                <a:lnTo>
                  <a:pt x="0" y="8208697"/>
                </a:lnTo>
                <a:lnTo>
                  <a:pt x="0" y="0"/>
                </a:lnTo>
                <a:close/>
              </a:path>
            </a:pathLst>
          </a:custGeom>
          <a:blipFill>
            <a:blip r:embed="rId4"/>
            <a:stretch>
              <a:fillRect l="-49746" r="-49746"/>
            </a:stretch>
          </a:blipFill>
        </p:spPr>
      </p:sp>
      <p:grpSp>
        <p:nvGrpSpPr>
          <p:cNvPr id="8" name="Group 8"/>
          <p:cNvGrpSpPr/>
          <p:nvPr/>
        </p:nvGrpSpPr>
        <p:grpSpPr>
          <a:xfrm>
            <a:off x="1999270" y="3071262"/>
            <a:ext cx="9895886" cy="5580930"/>
            <a:chOff x="0" y="0"/>
            <a:chExt cx="3791542" cy="2138296"/>
          </a:xfrm>
        </p:grpSpPr>
        <p:sp>
          <p:nvSpPr>
            <p:cNvPr id="9" name="Freeform 9"/>
            <p:cNvSpPr/>
            <p:nvPr/>
          </p:nvSpPr>
          <p:spPr>
            <a:xfrm>
              <a:off x="0" y="0"/>
              <a:ext cx="3791542" cy="2138296"/>
            </a:xfrm>
            <a:custGeom>
              <a:avLst/>
              <a:gdLst/>
              <a:ahLst/>
              <a:cxnLst/>
              <a:rect l="l" t="t" r="r" b="b"/>
              <a:pathLst>
                <a:path w="3791542" h="2138296">
                  <a:moveTo>
                    <a:pt x="0" y="0"/>
                  </a:moveTo>
                  <a:lnTo>
                    <a:pt x="3791542" y="0"/>
                  </a:lnTo>
                  <a:lnTo>
                    <a:pt x="3791542" y="2138296"/>
                  </a:lnTo>
                  <a:lnTo>
                    <a:pt x="0" y="2138296"/>
                  </a:lnTo>
                  <a:close/>
                </a:path>
              </a:pathLst>
            </a:custGeom>
            <a:solidFill>
              <a:srgbClr val="EFEFEF"/>
            </a:solidFill>
          </p:spPr>
        </p:sp>
        <p:sp>
          <p:nvSpPr>
            <p:cNvPr id="10" name="TextBox 10"/>
            <p:cNvSpPr txBox="1"/>
            <p:nvPr/>
          </p:nvSpPr>
          <p:spPr>
            <a:xfrm>
              <a:off x="0" y="-19050"/>
              <a:ext cx="3791542" cy="2157346"/>
            </a:xfrm>
            <a:prstGeom prst="rect">
              <a:avLst/>
            </a:prstGeom>
          </p:spPr>
          <p:txBody>
            <a:bodyPr lIns="50800" tIns="50800" rIns="50800" bIns="50800" rtlCol="0" anchor="ctr"/>
            <a:lstStyle/>
            <a:p>
              <a:pPr algn="ctr">
                <a:lnSpc>
                  <a:spcPts val="2859"/>
                </a:lnSpc>
              </a:pPr>
              <a:endParaRPr/>
            </a:p>
          </p:txBody>
        </p:sp>
      </p:grpSp>
      <p:sp>
        <p:nvSpPr>
          <p:cNvPr id="11" name="Freeform 11"/>
          <p:cNvSpPr/>
          <p:nvPr/>
        </p:nvSpPr>
        <p:spPr>
          <a:xfrm>
            <a:off x="1927809" y="8652193"/>
            <a:ext cx="9752965" cy="1032847"/>
          </a:xfrm>
          <a:custGeom>
            <a:avLst/>
            <a:gdLst/>
            <a:ahLst/>
            <a:cxnLst/>
            <a:rect l="l" t="t" r="r" b="b"/>
            <a:pathLst>
              <a:path w="9752965" h="1032847">
                <a:moveTo>
                  <a:pt x="0" y="0"/>
                </a:moveTo>
                <a:lnTo>
                  <a:pt x="9752965" y="0"/>
                </a:lnTo>
                <a:lnTo>
                  <a:pt x="9752965" y="1032847"/>
                </a:lnTo>
                <a:lnTo>
                  <a:pt x="0" y="1032847"/>
                </a:lnTo>
                <a:lnTo>
                  <a:pt x="0" y="0"/>
                </a:lnTo>
                <a:close/>
              </a:path>
            </a:pathLst>
          </a:custGeom>
          <a:blipFill>
            <a:blip r:embed="rId3"/>
            <a:stretch>
              <a:fillRect t="-86495"/>
            </a:stretch>
          </a:blipFill>
        </p:spPr>
      </p:sp>
      <p:sp>
        <p:nvSpPr>
          <p:cNvPr id="12" name="TextBox 12"/>
          <p:cNvSpPr txBox="1"/>
          <p:nvPr/>
        </p:nvSpPr>
        <p:spPr>
          <a:xfrm>
            <a:off x="3694516" y="3139881"/>
            <a:ext cx="7986258" cy="5396068"/>
          </a:xfrm>
          <a:prstGeom prst="rect">
            <a:avLst/>
          </a:prstGeom>
        </p:spPr>
        <p:txBody>
          <a:bodyPr lIns="0" tIns="0" rIns="0" bIns="0" rtlCol="0" anchor="t">
            <a:spAutoFit/>
          </a:bodyPr>
          <a:lstStyle/>
          <a:p>
            <a:pPr marL="0" lvl="0" indent="0" algn="l">
              <a:lnSpc>
                <a:spcPts val="3050"/>
              </a:lnSpc>
              <a:spcBef>
                <a:spcPct val="0"/>
              </a:spcBef>
            </a:pPr>
            <a:r>
              <a:rPr lang="en-US" sz="2210" spc="216">
                <a:solidFill>
                  <a:srgbClr val="231F20"/>
                </a:solidFill>
                <a:latin typeface="DM Sans"/>
                <a:ea typeface="DM Sans"/>
                <a:cs typeface="DM Sans"/>
                <a:sym typeface="DM Sans"/>
              </a:rPr>
              <a:t>The project focuses on building a web-based platform that facilitates blood donation, blood withdrawal, and health checkups using machine learning technique. The website will connect donors with blood banks, providing a streamlined way to schedule and manage donations. And will connect people who need blood (withdrawal) providing them with the data of the blood they require. Additionally, it will feature a health checkup module, where users can enter their health data, and the system will leverage machine learning algorithms to predict their eligibility for donation based on factors such as haemoglobin levels, blood pressure, and other vital signs.</a:t>
            </a:r>
          </a:p>
        </p:txBody>
      </p:sp>
      <p:sp>
        <p:nvSpPr>
          <p:cNvPr id="13" name="Freeform 13"/>
          <p:cNvSpPr/>
          <p:nvPr/>
        </p:nvSpPr>
        <p:spPr>
          <a:xfrm>
            <a:off x="-2779578" y="7341318"/>
            <a:ext cx="7616557" cy="7815497"/>
          </a:xfrm>
          <a:custGeom>
            <a:avLst/>
            <a:gdLst/>
            <a:ahLst/>
            <a:cxnLst/>
            <a:rect l="l" t="t" r="r" b="b"/>
            <a:pathLst>
              <a:path w="7616557" h="7815497">
                <a:moveTo>
                  <a:pt x="0" y="0"/>
                </a:moveTo>
                <a:lnTo>
                  <a:pt x="7616556" y="0"/>
                </a:lnTo>
                <a:lnTo>
                  <a:pt x="7616556" y="7815497"/>
                </a:lnTo>
                <a:lnTo>
                  <a:pt x="0" y="7815497"/>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4" name="Freeform 14"/>
          <p:cNvSpPr/>
          <p:nvPr/>
        </p:nvSpPr>
        <p:spPr>
          <a:xfrm>
            <a:off x="2292320" y="3293981"/>
            <a:ext cx="945036" cy="945036"/>
          </a:xfrm>
          <a:custGeom>
            <a:avLst/>
            <a:gdLst/>
            <a:ahLst/>
            <a:cxnLst/>
            <a:rect l="l" t="t" r="r" b="b"/>
            <a:pathLst>
              <a:path w="945036" h="945036">
                <a:moveTo>
                  <a:pt x="0" y="0"/>
                </a:moveTo>
                <a:lnTo>
                  <a:pt x="945035" y="0"/>
                </a:lnTo>
                <a:lnTo>
                  <a:pt x="945035" y="945036"/>
                </a:lnTo>
                <a:lnTo>
                  <a:pt x="0" y="945036"/>
                </a:lnTo>
                <a:lnTo>
                  <a:pt x="0" y="0"/>
                </a:lnTo>
                <a:close/>
              </a:path>
            </a:pathLst>
          </a:custGeom>
          <a:blipFill>
            <a:blip r:embed="rId6"/>
            <a:stretch>
              <a:fillRect/>
            </a:stretch>
          </a:blipFill>
        </p:spPr>
      </p:sp>
      <p:sp>
        <p:nvSpPr>
          <p:cNvPr id="15" name="TextBox 15"/>
          <p:cNvSpPr txBox="1"/>
          <p:nvPr/>
        </p:nvSpPr>
        <p:spPr>
          <a:xfrm>
            <a:off x="2142191" y="888605"/>
            <a:ext cx="7416941" cy="1686342"/>
          </a:xfrm>
          <a:prstGeom prst="rect">
            <a:avLst/>
          </a:prstGeom>
        </p:spPr>
        <p:txBody>
          <a:bodyPr lIns="0" tIns="0" rIns="0" bIns="0" rtlCol="0" anchor="t">
            <a:spAutoFit/>
          </a:bodyPr>
          <a:lstStyle/>
          <a:p>
            <a:pPr algn="l">
              <a:lnSpc>
                <a:spcPts val="13774"/>
              </a:lnSpc>
            </a:pPr>
            <a:r>
              <a:rPr lang="en-US" sz="9981" b="1" spc="978">
                <a:solidFill>
                  <a:srgbClr val="231F20"/>
                </a:solidFill>
                <a:latin typeface="Oswald Bold"/>
                <a:ea typeface="Oswald Bold"/>
                <a:cs typeface="Oswald Bold"/>
                <a:sym typeface="Oswald Bold"/>
              </a:rPr>
              <a:t>ABOUT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sp>
        <p:nvSpPr>
          <p:cNvPr id="3" name="Freeform 3"/>
          <p:cNvSpPr/>
          <p:nvPr/>
        </p:nvSpPr>
        <p:spPr>
          <a:xfrm>
            <a:off x="5648082" y="8076233"/>
            <a:ext cx="1747759" cy="1747759"/>
          </a:xfrm>
          <a:custGeom>
            <a:avLst/>
            <a:gdLst/>
            <a:ahLst/>
            <a:cxnLst/>
            <a:rect l="l" t="t" r="r" b="b"/>
            <a:pathLst>
              <a:path w="1747759" h="1747759">
                <a:moveTo>
                  <a:pt x="0" y="0"/>
                </a:moveTo>
                <a:lnTo>
                  <a:pt x="1747759" y="0"/>
                </a:lnTo>
                <a:lnTo>
                  <a:pt x="1747759" y="1747760"/>
                </a:lnTo>
                <a:lnTo>
                  <a:pt x="0" y="174776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6270686" y="7525871"/>
            <a:ext cx="5991266" cy="5991266"/>
          </a:xfrm>
          <a:custGeom>
            <a:avLst/>
            <a:gdLst/>
            <a:ahLst/>
            <a:cxnLst/>
            <a:rect l="l" t="t" r="r" b="b"/>
            <a:pathLst>
              <a:path w="5991266" h="5991266">
                <a:moveTo>
                  <a:pt x="0" y="0"/>
                </a:moveTo>
                <a:lnTo>
                  <a:pt x="5991266" y="0"/>
                </a:lnTo>
                <a:lnTo>
                  <a:pt x="5991266" y="5991266"/>
                </a:lnTo>
                <a:lnTo>
                  <a:pt x="0" y="599126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6138875" y="8569939"/>
            <a:ext cx="1023451" cy="1023451"/>
          </a:xfrm>
          <a:custGeom>
            <a:avLst/>
            <a:gdLst/>
            <a:ahLst/>
            <a:cxnLst/>
            <a:rect l="l" t="t" r="r" b="b"/>
            <a:pathLst>
              <a:path w="1023451" h="1023451">
                <a:moveTo>
                  <a:pt x="0" y="0"/>
                </a:moveTo>
                <a:lnTo>
                  <a:pt x="1023452" y="0"/>
                </a:lnTo>
                <a:lnTo>
                  <a:pt x="1023452" y="1023451"/>
                </a:lnTo>
                <a:lnTo>
                  <a:pt x="0" y="1023451"/>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8392439" y="6611080"/>
            <a:ext cx="1747759" cy="1747759"/>
          </a:xfrm>
          <a:custGeom>
            <a:avLst/>
            <a:gdLst/>
            <a:ahLst/>
            <a:cxnLst/>
            <a:rect l="l" t="t" r="r" b="b"/>
            <a:pathLst>
              <a:path w="1747759" h="1747759">
                <a:moveTo>
                  <a:pt x="0" y="0"/>
                </a:moveTo>
                <a:lnTo>
                  <a:pt x="1747760" y="0"/>
                </a:lnTo>
                <a:lnTo>
                  <a:pt x="1747760" y="1747759"/>
                </a:lnTo>
                <a:lnTo>
                  <a:pt x="0" y="174775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7" name="Freeform 7"/>
          <p:cNvSpPr/>
          <p:nvPr/>
        </p:nvSpPr>
        <p:spPr>
          <a:xfrm>
            <a:off x="11136797" y="8076233"/>
            <a:ext cx="1747759" cy="1747759"/>
          </a:xfrm>
          <a:custGeom>
            <a:avLst/>
            <a:gdLst/>
            <a:ahLst/>
            <a:cxnLst/>
            <a:rect l="l" t="t" r="r" b="b"/>
            <a:pathLst>
              <a:path w="1747759" h="1747759">
                <a:moveTo>
                  <a:pt x="0" y="0"/>
                </a:moveTo>
                <a:lnTo>
                  <a:pt x="1747759" y="0"/>
                </a:lnTo>
                <a:lnTo>
                  <a:pt x="1747759" y="1747760"/>
                </a:lnTo>
                <a:lnTo>
                  <a:pt x="0" y="1747760"/>
                </a:lnTo>
                <a:lnTo>
                  <a:pt x="0" y="0"/>
                </a:lnTo>
                <a:close/>
              </a:path>
            </a:pathLst>
          </a:custGeom>
          <a:blipFill>
            <a:blip>
              <a:extLst>
                <a:ext uri="{96DAC541-7B7A-43D3-8B79-37D633B846F1}">
                  <asvg:svgBlip xmlns:asvg="http://schemas.microsoft.com/office/drawing/2016/SVG/main" r:embed="rId6"/>
                </a:ext>
              </a:extLst>
            </a:blip>
            <a:stretch>
              <a:fillRect/>
            </a:stretch>
          </a:blipFill>
        </p:spPr>
      </p:sp>
      <p:grpSp>
        <p:nvGrpSpPr>
          <p:cNvPr id="8" name="Group 8"/>
          <p:cNvGrpSpPr/>
          <p:nvPr/>
        </p:nvGrpSpPr>
        <p:grpSpPr>
          <a:xfrm>
            <a:off x="1774426" y="3206190"/>
            <a:ext cx="3474003" cy="647719"/>
            <a:chOff x="0" y="0"/>
            <a:chExt cx="914964" cy="170593"/>
          </a:xfrm>
        </p:grpSpPr>
        <p:sp>
          <p:nvSpPr>
            <p:cNvPr id="9" name="Freeform 9"/>
            <p:cNvSpPr/>
            <p:nvPr/>
          </p:nvSpPr>
          <p:spPr>
            <a:xfrm>
              <a:off x="0" y="0"/>
              <a:ext cx="914964" cy="170593"/>
            </a:xfrm>
            <a:custGeom>
              <a:avLst/>
              <a:gdLst/>
              <a:ahLst/>
              <a:cxnLst/>
              <a:rect l="l" t="t" r="r" b="b"/>
              <a:pathLst>
                <a:path w="914964" h="170593">
                  <a:moveTo>
                    <a:pt x="0" y="0"/>
                  </a:moveTo>
                  <a:lnTo>
                    <a:pt x="914964" y="0"/>
                  </a:lnTo>
                  <a:lnTo>
                    <a:pt x="914964" y="170593"/>
                  </a:lnTo>
                  <a:lnTo>
                    <a:pt x="0" y="170593"/>
                  </a:lnTo>
                  <a:close/>
                </a:path>
              </a:pathLst>
            </a:custGeom>
            <a:solidFill>
              <a:srgbClr val="1A1A1A"/>
            </a:solidFill>
          </p:spPr>
        </p:sp>
        <p:sp>
          <p:nvSpPr>
            <p:cNvPr id="10" name="TextBox 10"/>
            <p:cNvSpPr txBox="1"/>
            <p:nvPr/>
          </p:nvSpPr>
          <p:spPr>
            <a:xfrm>
              <a:off x="0" y="-57150"/>
              <a:ext cx="914964" cy="227743"/>
            </a:xfrm>
            <a:prstGeom prst="rect">
              <a:avLst/>
            </a:prstGeom>
          </p:spPr>
          <p:txBody>
            <a:bodyPr lIns="50800" tIns="50800" rIns="50800" bIns="50800" rtlCol="0" anchor="ctr"/>
            <a:lstStyle/>
            <a:p>
              <a:pPr marL="0" lvl="0" indent="0" algn="ctr">
                <a:lnSpc>
                  <a:spcPts val="4114"/>
                </a:lnSpc>
                <a:spcBef>
                  <a:spcPct val="0"/>
                </a:spcBef>
              </a:pPr>
              <a:r>
                <a:rPr lang="en-US" sz="2981" b="1" spc="29">
                  <a:solidFill>
                    <a:srgbClr val="FFFFFF"/>
                  </a:solidFill>
                  <a:latin typeface="DM Sans Bold"/>
                  <a:ea typeface="DM Sans Bold"/>
                  <a:cs typeface="DM Sans Bold"/>
                  <a:sym typeface="DM Sans Bold"/>
                </a:rPr>
                <a:t>Streamline Flow</a:t>
              </a:r>
            </a:p>
          </p:txBody>
        </p:sp>
      </p:grpSp>
      <p:sp>
        <p:nvSpPr>
          <p:cNvPr id="11" name="TextBox 11"/>
          <p:cNvSpPr txBox="1"/>
          <p:nvPr/>
        </p:nvSpPr>
        <p:spPr>
          <a:xfrm>
            <a:off x="1830975" y="4045241"/>
            <a:ext cx="3360904" cy="3421142"/>
          </a:xfrm>
          <a:prstGeom prst="rect">
            <a:avLst/>
          </a:prstGeom>
        </p:spPr>
        <p:txBody>
          <a:bodyPr lIns="0" tIns="0" rIns="0" bIns="0" rtlCol="0" anchor="t">
            <a:spAutoFit/>
          </a:bodyPr>
          <a:lstStyle/>
          <a:p>
            <a:pPr algn="ctr">
              <a:lnSpc>
                <a:spcPts val="2774"/>
              </a:lnSpc>
            </a:pPr>
            <a:r>
              <a:rPr lang="en-US" sz="2010" spc="197">
                <a:solidFill>
                  <a:srgbClr val="231F20"/>
                </a:solidFill>
                <a:latin typeface="DM Sans"/>
                <a:ea typeface="DM Sans"/>
                <a:cs typeface="DM Sans"/>
                <a:sym typeface="DM Sans"/>
              </a:rPr>
              <a:t>For fast donation and withdrawal, as in case of emergency.</a:t>
            </a:r>
          </a:p>
          <a:p>
            <a:pPr algn="ctr">
              <a:lnSpc>
                <a:spcPts val="2774"/>
              </a:lnSpc>
            </a:pPr>
            <a:endParaRPr lang="en-US" sz="2010" spc="197">
              <a:solidFill>
                <a:srgbClr val="231F20"/>
              </a:solidFill>
              <a:latin typeface="DM Sans"/>
              <a:ea typeface="DM Sans"/>
              <a:cs typeface="DM Sans"/>
              <a:sym typeface="DM Sans"/>
            </a:endParaRPr>
          </a:p>
          <a:p>
            <a:pPr algn="ctr">
              <a:lnSpc>
                <a:spcPts val="2774"/>
              </a:lnSpc>
            </a:pPr>
            <a:r>
              <a:rPr lang="en-US" sz="2010" spc="197">
                <a:solidFill>
                  <a:srgbClr val="231F20"/>
                </a:solidFill>
                <a:latin typeface="DM Sans"/>
                <a:ea typeface="DM Sans"/>
                <a:cs typeface="DM Sans"/>
                <a:sym typeface="DM Sans"/>
              </a:rPr>
              <a:t>Simply the registration, scheduling, and donation procedures to make it convenient for donors.</a:t>
            </a:r>
          </a:p>
          <a:p>
            <a:pPr marL="0" lvl="0" indent="0" algn="ctr">
              <a:lnSpc>
                <a:spcPts val="2774"/>
              </a:lnSpc>
              <a:spcBef>
                <a:spcPct val="0"/>
              </a:spcBef>
            </a:pPr>
            <a:endParaRPr lang="en-US" sz="2010" spc="197">
              <a:solidFill>
                <a:srgbClr val="231F20"/>
              </a:solidFill>
              <a:latin typeface="DM Sans"/>
              <a:ea typeface="DM Sans"/>
              <a:cs typeface="DM Sans"/>
              <a:sym typeface="DM Sans"/>
            </a:endParaRPr>
          </a:p>
        </p:txBody>
      </p:sp>
      <p:grpSp>
        <p:nvGrpSpPr>
          <p:cNvPr id="12" name="Group 12"/>
          <p:cNvGrpSpPr/>
          <p:nvPr/>
        </p:nvGrpSpPr>
        <p:grpSpPr>
          <a:xfrm>
            <a:off x="7218805" y="3206190"/>
            <a:ext cx="3474003" cy="647719"/>
            <a:chOff x="0" y="0"/>
            <a:chExt cx="914964" cy="170593"/>
          </a:xfrm>
        </p:grpSpPr>
        <p:sp>
          <p:nvSpPr>
            <p:cNvPr id="13" name="Freeform 13"/>
            <p:cNvSpPr/>
            <p:nvPr/>
          </p:nvSpPr>
          <p:spPr>
            <a:xfrm>
              <a:off x="0" y="0"/>
              <a:ext cx="914964" cy="170593"/>
            </a:xfrm>
            <a:custGeom>
              <a:avLst/>
              <a:gdLst/>
              <a:ahLst/>
              <a:cxnLst/>
              <a:rect l="l" t="t" r="r" b="b"/>
              <a:pathLst>
                <a:path w="914964" h="170593">
                  <a:moveTo>
                    <a:pt x="0" y="0"/>
                  </a:moveTo>
                  <a:lnTo>
                    <a:pt x="914964" y="0"/>
                  </a:lnTo>
                  <a:lnTo>
                    <a:pt x="914964" y="170593"/>
                  </a:lnTo>
                  <a:lnTo>
                    <a:pt x="0" y="170593"/>
                  </a:lnTo>
                  <a:close/>
                </a:path>
              </a:pathLst>
            </a:custGeom>
            <a:solidFill>
              <a:srgbClr val="1A1A1A"/>
            </a:solidFill>
          </p:spPr>
        </p:sp>
        <p:sp>
          <p:nvSpPr>
            <p:cNvPr id="14" name="TextBox 14"/>
            <p:cNvSpPr txBox="1"/>
            <p:nvPr/>
          </p:nvSpPr>
          <p:spPr>
            <a:xfrm>
              <a:off x="0" y="-57150"/>
              <a:ext cx="914964" cy="227743"/>
            </a:xfrm>
            <a:prstGeom prst="rect">
              <a:avLst/>
            </a:prstGeom>
          </p:spPr>
          <p:txBody>
            <a:bodyPr lIns="50800" tIns="50800" rIns="50800" bIns="50800" rtlCol="0" anchor="ctr"/>
            <a:lstStyle/>
            <a:p>
              <a:pPr marL="0" lvl="0" indent="0" algn="ctr">
                <a:lnSpc>
                  <a:spcPts val="4114"/>
                </a:lnSpc>
                <a:spcBef>
                  <a:spcPct val="0"/>
                </a:spcBef>
              </a:pPr>
              <a:r>
                <a:rPr lang="en-US" sz="2981" b="1" spc="29">
                  <a:solidFill>
                    <a:srgbClr val="FFFFFF"/>
                  </a:solidFill>
                  <a:latin typeface="DM Sans Bold"/>
                  <a:ea typeface="DM Sans Bold"/>
                  <a:cs typeface="DM Sans Bold"/>
                  <a:sym typeface="DM Sans Bold"/>
                </a:rPr>
                <a:t>  Treatment</a:t>
              </a:r>
            </a:p>
          </p:txBody>
        </p:sp>
      </p:grpSp>
      <p:grpSp>
        <p:nvGrpSpPr>
          <p:cNvPr id="15" name="Group 15"/>
          <p:cNvGrpSpPr/>
          <p:nvPr/>
        </p:nvGrpSpPr>
        <p:grpSpPr>
          <a:xfrm>
            <a:off x="13284209" y="3206190"/>
            <a:ext cx="3474003" cy="647719"/>
            <a:chOff x="0" y="0"/>
            <a:chExt cx="914964" cy="170593"/>
          </a:xfrm>
        </p:grpSpPr>
        <p:sp>
          <p:nvSpPr>
            <p:cNvPr id="16" name="Freeform 16"/>
            <p:cNvSpPr/>
            <p:nvPr/>
          </p:nvSpPr>
          <p:spPr>
            <a:xfrm>
              <a:off x="0" y="0"/>
              <a:ext cx="914964" cy="170593"/>
            </a:xfrm>
            <a:custGeom>
              <a:avLst/>
              <a:gdLst/>
              <a:ahLst/>
              <a:cxnLst/>
              <a:rect l="l" t="t" r="r" b="b"/>
              <a:pathLst>
                <a:path w="914964" h="170593">
                  <a:moveTo>
                    <a:pt x="0" y="0"/>
                  </a:moveTo>
                  <a:lnTo>
                    <a:pt x="914964" y="0"/>
                  </a:lnTo>
                  <a:lnTo>
                    <a:pt x="914964" y="170593"/>
                  </a:lnTo>
                  <a:lnTo>
                    <a:pt x="0" y="170593"/>
                  </a:lnTo>
                  <a:close/>
                </a:path>
              </a:pathLst>
            </a:custGeom>
            <a:solidFill>
              <a:srgbClr val="1A1A1A"/>
            </a:solidFill>
          </p:spPr>
        </p:sp>
        <p:sp>
          <p:nvSpPr>
            <p:cNvPr id="17" name="TextBox 17"/>
            <p:cNvSpPr txBox="1"/>
            <p:nvPr/>
          </p:nvSpPr>
          <p:spPr>
            <a:xfrm>
              <a:off x="0" y="-57150"/>
              <a:ext cx="914964" cy="227743"/>
            </a:xfrm>
            <a:prstGeom prst="rect">
              <a:avLst/>
            </a:prstGeom>
          </p:spPr>
          <p:txBody>
            <a:bodyPr lIns="50800" tIns="50800" rIns="50800" bIns="50800" rtlCol="0" anchor="ctr"/>
            <a:lstStyle/>
            <a:p>
              <a:pPr marL="0" lvl="0" indent="0" algn="ctr">
                <a:lnSpc>
                  <a:spcPts val="4114"/>
                </a:lnSpc>
                <a:spcBef>
                  <a:spcPct val="0"/>
                </a:spcBef>
              </a:pPr>
              <a:r>
                <a:rPr lang="en-US" sz="2981" b="1" spc="29">
                  <a:solidFill>
                    <a:srgbClr val="FFFFFF"/>
                  </a:solidFill>
                  <a:latin typeface="DM Sans Bold"/>
                  <a:ea typeface="DM Sans Bold"/>
                  <a:cs typeface="DM Sans Bold"/>
                  <a:sym typeface="DM Sans Bold"/>
                </a:rPr>
                <a:t>Motivate People</a:t>
              </a:r>
            </a:p>
          </p:txBody>
        </p:sp>
      </p:grpSp>
      <p:sp>
        <p:nvSpPr>
          <p:cNvPr id="18" name="Freeform 18"/>
          <p:cNvSpPr/>
          <p:nvPr/>
        </p:nvSpPr>
        <p:spPr>
          <a:xfrm>
            <a:off x="14479722" y="-4833750"/>
            <a:ext cx="7616557" cy="7815497"/>
          </a:xfrm>
          <a:custGeom>
            <a:avLst/>
            <a:gdLst/>
            <a:ahLst/>
            <a:cxnLst/>
            <a:rect l="l" t="t" r="r" b="b"/>
            <a:pathLst>
              <a:path w="7616557" h="7815497">
                <a:moveTo>
                  <a:pt x="0" y="0"/>
                </a:moveTo>
                <a:lnTo>
                  <a:pt x="7616556" y="0"/>
                </a:lnTo>
                <a:lnTo>
                  <a:pt x="7616556" y="7815497"/>
                </a:lnTo>
                <a:lnTo>
                  <a:pt x="0" y="7815497"/>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9" name="Freeform 19"/>
          <p:cNvSpPr/>
          <p:nvPr/>
        </p:nvSpPr>
        <p:spPr>
          <a:xfrm rot="-4176364">
            <a:off x="-4105129" y="6530238"/>
            <a:ext cx="7616557" cy="7815497"/>
          </a:xfrm>
          <a:custGeom>
            <a:avLst/>
            <a:gdLst/>
            <a:ahLst/>
            <a:cxnLst/>
            <a:rect l="l" t="t" r="r" b="b"/>
            <a:pathLst>
              <a:path w="7616557" h="7815497">
                <a:moveTo>
                  <a:pt x="0" y="0"/>
                </a:moveTo>
                <a:lnTo>
                  <a:pt x="7616556" y="0"/>
                </a:lnTo>
                <a:lnTo>
                  <a:pt x="7616556" y="7815496"/>
                </a:lnTo>
                <a:lnTo>
                  <a:pt x="0" y="7815496"/>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20" name="Freeform 20"/>
          <p:cNvSpPr/>
          <p:nvPr/>
        </p:nvSpPr>
        <p:spPr>
          <a:xfrm>
            <a:off x="11366413" y="8485258"/>
            <a:ext cx="1288526" cy="1108132"/>
          </a:xfrm>
          <a:custGeom>
            <a:avLst/>
            <a:gdLst/>
            <a:ahLst/>
            <a:cxnLst/>
            <a:rect l="l" t="t" r="r" b="b"/>
            <a:pathLst>
              <a:path w="1288526" h="1108132">
                <a:moveTo>
                  <a:pt x="0" y="0"/>
                </a:moveTo>
                <a:lnTo>
                  <a:pt x="1288526" y="0"/>
                </a:lnTo>
                <a:lnTo>
                  <a:pt x="1288526" y="1108132"/>
                </a:lnTo>
                <a:lnTo>
                  <a:pt x="0" y="1108132"/>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21" name="Freeform 21"/>
          <p:cNvSpPr/>
          <p:nvPr/>
        </p:nvSpPr>
        <p:spPr>
          <a:xfrm>
            <a:off x="5744150" y="8172302"/>
            <a:ext cx="1555623" cy="1555623"/>
          </a:xfrm>
          <a:custGeom>
            <a:avLst/>
            <a:gdLst/>
            <a:ahLst/>
            <a:cxnLst/>
            <a:rect l="l" t="t" r="r" b="b"/>
            <a:pathLst>
              <a:path w="1555623" h="1555623">
                <a:moveTo>
                  <a:pt x="0" y="0"/>
                </a:moveTo>
                <a:lnTo>
                  <a:pt x="1555623" y="0"/>
                </a:lnTo>
                <a:lnTo>
                  <a:pt x="1555623" y="1555622"/>
                </a:lnTo>
                <a:lnTo>
                  <a:pt x="0" y="1555622"/>
                </a:lnTo>
                <a:lnTo>
                  <a:pt x="0" y="0"/>
                </a:lnTo>
                <a:close/>
              </a:path>
            </a:pathLst>
          </a:custGeom>
          <a:blipFill>
            <a:blip>
              <a:extLst>
                <a:ext uri="{96DAC541-7B7A-43D3-8B79-37D633B846F1}">
                  <asvg:svgBlip xmlns:asvg="http://schemas.microsoft.com/office/drawing/2016/SVG/main" r:embed="rId9"/>
                </a:ext>
              </a:extLst>
            </a:blip>
            <a:stretch>
              <a:fillRect/>
            </a:stretch>
          </a:blipFill>
        </p:spPr>
      </p:sp>
      <p:grpSp>
        <p:nvGrpSpPr>
          <p:cNvPr id="22" name="Group 22"/>
          <p:cNvGrpSpPr/>
          <p:nvPr/>
        </p:nvGrpSpPr>
        <p:grpSpPr>
          <a:xfrm>
            <a:off x="8503398" y="6722039"/>
            <a:ext cx="1525842" cy="1525842"/>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0"/>
              <a:stretch>
                <a:fillRect/>
              </a:stretch>
            </a:blipFill>
          </p:spPr>
        </p:sp>
      </p:grpSp>
      <p:sp>
        <p:nvSpPr>
          <p:cNvPr id="24" name="TextBox 24"/>
          <p:cNvSpPr txBox="1"/>
          <p:nvPr/>
        </p:nvSpPr>
        <p:spPr>
          <a:xfrm>
            <a:off x="6138875" y="4042536"/>
            <a:ext cx="6254887" cy="2735342"/>
          </a:xfrm>
          <a:prstGeom prst="rect">
            <a:avLst/>
          </a:prstGeom>
        </p:spPr>
        <p:txBody>
          <a:bodyPr lIns="0" tIns="0" rIns="0" bIns="0" rtlCol="0" anchor="t">
            <a:spAutoFit/>
          </a:bodyPr>
          <a:lstStyle/>
          <a:p>
            <a:pPr algn="ctr">
              <a:lnSpc>
                <a:spcPts val="2774"/>
              </a:lnSpc>
            </a:pPr>
            <a:r>
              <a:rPr lang="en-US" sz="2010" spc="197">
                <a:solidFill>
                  <a:srgbClr val="231F20"/>
                </a:solidFill>
                <a:latin typeface="DM Sans"/>
                <a:ea typeface="DM Sans"/>
                <a:cs typeface="DM Sans"/>
                <a:sym typeface="DM Sans"/>
              </a:rPr>
              <a:t>To find if there are symptoms of any disease and treating it at its first stage.</a:t>
            </a:r>
          </a:p>
          <a:p>
            <a:pPr algn="ctr">
              <a:lnSpc>
                <a:spcPts val="2774"/>
              </a:lnSpc>
            </a:pPr>
            <a:endParaRPr lang="en-US" sz="2010" spc="197">
              <a:solidFill>
                <a:srgbClr val="231F20"/>
              </a:solidFill>
              <a:latin typeface="DM Sans"/>
              <a:ea typeface="DM Sans"/>
              <a:cs typeface="DM Sans"/>
              <a:sym typeface="DM Sans"/>
            </a:endParaRPr>
          </a:p>
          <a:p>
            <a:pPr algn="ctr">
              <a:lnSpc>
                <a:spcPts val="2774"/>
              </a:lnSpc>
            </a:pPr>
            <a:r>
              <a:rPr lang="en-US" sz="2010" spc="197">
                <a:solidFill>
                  <a:srgbClr val="231F20"/>
                </a:solidFill>
                <a:latin typeface="DM Sans"/>
                <a:ea typeface="DM Sans"/>
                <a:cs typeface="DM Sans"/>
                <a:sym typeface="DM Sans"/>
              </a:rPr>
              <a:t>Many chronic diseases can be prevented or managed more effectively if their symptoms are recognized and addressed early.</a:t>
            </a:r>
          </a:p>
          <a:p>
            <a:pPr marL="0" lvl="0" indent="0" algn="ctr">
              <a:lnSpc>
                <a:spcPts val="2774"/>
              </a:lnSpc>
              <a:spcBef>
                <a:spcPct val="0"/>
              </a:spcBef>
            </a:pPr>
            <a:endParaRPr lang="en-US" sz="2010" spc="197">
              <a:solidFill>
                <a:srgbClr val="231F20"/>
              </a:solidFill>
              <a:latin typeface="DM Sans"/>
              <a:ea typeface="DM Sans"/>
              <a:cs typeface="DM Sans"/>
              <a:sym typeface="DM Sans"/>
            </a:endParaRPr>
          </a:p>
        </p:txBody>
      </p:sp>
      <p:sp>
        <p:nvSpPr>
          <p:cNvPr id="25" name="TextBox 25"/>
          <p:cNvSpPr txBox="1"/>
          <p:nvPr/>
        </p:nvSpPr>
        <p:spPr>
          <a:xfrm>
            <a:off x="2887170" y="1277407"/>
            <a:ext cx="11552977" cy="1166783"/>
          </a:xfrm>
          <a:prstGeom prst="rect">
            <a:avLst/>
          </a:prstGeom>
        </p:spPr>
        <p:txBody>
          <a:bodyPr lIns="0" tIns="0" rIns="0" bIns="0" rtlCol="0" anchor="t">
            <a:spAutoFit/>
          </a:bodyPr>
          <a:lstStyle/>
          <a:p>
            <a:pPr algn="ctr">
              <a:lnSpc>
                <a:spcPts val="9587"/>
              </a:lnSpc>
            </a:pPr>
            <a:r>
              <a:rPr lang="en-US" sz="6947" b="1" spc="368">
                <a:solidFill>
                  <a:srgbClr val="231F20"/>
                </a:solidFill>
                <a:latin typeface="Oswald Bold"/>
                <a:ea typeface="Oswald Bold"/>
                <a:cs typeface="Oswald Bold"/>
                <a:sym typeface="Oswald Bold"/>
              </a:rPr>
              <a:t>AIM</a:t>
            </a:r>
          </a:p>
        </p:txBody>
      </p:sp>
      <p:sp>
        <p:nvSpPr>
          <p:cNvPr id="26" name="TextBox 26"/>
          <p:cNvSpPr txBox="1"/>
          <p:nvPr/>
        </p:nvSpPr>
        <p:spPr>
          <a:xfrm>
            <a:off x="12590663" y="4045241"/>
            <a:ext cx="4861095" cy="3764042"/>
          </a:xfrm>
          <a:prstGeom prst="rect">
            <a:avLst/>
          </a:prstGeom>
        </p:spPr>
        <p:txBody>
          <a:bodyPr lIns="0" tIns="0" rIns="0" bIns="0" rtlCol="0" anchor="t">
            <a:spAutoFit/>
          </a:bodyPr>
          <a:lstStyle/>
          <a:p>
            <a:pPr algn="ctr">
              <a:lnSpc>
                <a:spcPts val="2774"/>
              </a:lnSpc>
            </a:pPr>
            <a:r>
              <a:rPr lang="en-US" sz="2010" spc="197">
                <a:solidFill>
                  <a:srgbClr val="231F20"/>
                </a:solidFill>
                <a:latin typeface="DM Sans"/>
                <a:ea typeface="DM Sans"/>
                <a:cs typeface="DM Sans"/>
                <a:sym typeface="DM Sans"/>
              </a:rPr>
              <a:t>Blood donation is a selfless act that can save lives and have a positive impact on your community. It is a simple procedure that is safe and can provide you with a sense of personal satisfaction.</a:t>
            </a:r>
          </a:p>
          <a:p>
            <a:pPr algn="ctr">
              <a:lnSpc>
                <a:spcPts val="2774"/>
              </a:lnSpc>
            </a:pPr>
            <a:endParaRPr lang="en-US" sz="2010" spc="197">
              <a:solidFill>
                <a:srgbClr val="231F20"/>
              </a:solidFill>
              <a:latin typeface="DM Sans"/>
              <a:ea typeface="DM Sans"/>
              <a:cs typeface="DM Sans"/>
              <a:sym typeface="DM Sans"/>
            </a:endParaRPr>
          </a:p>
          <a:p>
            <a:pPr algn="ctr">
              <a:lnSpc>
                <a:spcPts val="2774"/>
              </a:lnSpc>
            </a:pPr>
            <a:r>
              <a:rPr lang="en-US" sz="2010" spc="197">
                <a:solidFill>
                  <a:srgbClr val="231F20"/>
                </a:solidFill>
                <a:latin typeface="DM Sans"/>
                <a:ea typeface="DM Sans"/>
                <a:cs typeface="DM Sans"/>
                <a:sym typeface="DM Sans"/>
              </a:rPr>
              <a:t>Thus, motivating people to save lives.</a:t>
            </a:r>
          </a:p>
          <a:p>
            <a:pPr marL="0" lvl="0" indent="0" algn="ctr">
              <a:lnSpc>
                <a:spcPts val="2774"/>
              </a:lnSpc>
              <a:spcBef>
                <a:spcPct val="0"/>
              </a:spcBef>
            </a:pPr>
            <a:endParaRPr lang="en-US" sz="2010" spc="197">
              <a:solidFill>
                <a:srgbClr val="231F20"/>
              </a:solidFill>
              <a:latin typeface="DM Sans"/>
              <a:ea typeface="DM Sans"/>
              <a:cs typeface="DM Sans"/>
              <a:sym typeface="DM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grpSp>
        <p:nvGrpSpPr>
          <p:cNvPr id="3" name="Group 3"/>
          <p:cNvGrpSpPr/>
          <p:nvPr/>
        </p:nvGrpSpPr>
        <p:grpSpPr>
          <a:xfrm>
            <a:off x="0" y="0"/>
            <a:ext cx="18288000" cy="3086100"/>
            <a:chOff x="0" y="0"/>
            <a:chExt cx="4816593" cy="812800"/>
          </a:xfrm>
        </p:grpSpPr>
        <p:sp>
          <p:nvSpPr>
            <p:cNvPr id="4" name="Freeform 4"/>
            <p:cNvSpPr/>
            <p:nvPr/>
          </p:nvSpPr>
          <p:spPr>
            <a:xfrm>
              <a:off x="0" y="0"/>
              <a:ext cx="4816592" cy="812800"/>
            </a:xfrm>
            <a:custGeom>
              <a:avLst/>
              <a:gdLst/>
              <a:ahLst/>
              <a:cxnLst/>
              <a:rect l="l" t="t" r="r" b="b"/>
              <a:pathLst>
                <a:path w="4816592" h="812800">
                  <a:moveTo>
                    <a:pt x="0" y="0"/>
                  </a:moveTo>
                  <a:lnTo>
                    <a:pt x="4816592" y="0"/>
                  </a:lnTo>
                  <a:lnTo>
                    <a:pt x="4816592" y="812800"/>
                  </a:lnTo>
                  <a:lnTo>
                    <a:pt x="0" y="812800"/>
                  </a:lnTo>
                  <a:close/>
                </a:path>
              </a:pathLst>
            </a:custGeom>
            <a:solidFill>
              <a:srgbClr val="1A1A1A"/>
            </a:solidFill>
          </p:spPr>
        </p:sp>
        <p:sp>
          <p:nvSpPr>
            <p:cNvPr id="5" name="TextBox 5"/>
            <p:cNvSpPr txBox="1"/>
            <p:nvPr/>
          </p:nvSpPr>
          <p:spPr>
            <a:xfrm>
              <a:off x="0" y="-19050"/>
              <a:ext cx="4816593" cy="831850"/>
            </a:xfrm>
            <a:prstGeom prst="rect">
              <a:avLst/>
            </a:prstGeom>
          </p:spPr>
          <p:txBody>
            <a:bodyPr lIns="50800" tIns="50800" rIns="50800" bIns="50800" rtlCol="0" anchor="ctr"/>
            <a:lstStyle/>
            <a:p>
              <a:pPr algn="ctr">
                <a:lnSpc>
                  <a:spcPts val="2859"/>
                </a:lnSpc>
              </a:pPr>
              <a:endParaRPr/>
            </a:p>
          </p:txBody>
        </p:sp>
      </p:grpSp>
      <p:sp>
        <p:nvSpPr>
          <p:cNvPr id="6" name="Freeform 6"/>
          <p:cNvSpPr/>
          <p:nvPr/>
        </p:nvSpPr>
        <p:spPr>
          <a:xfrm>
            <a:off x="13451022" y="-4729397"/>
            <a:ext cx="7616557" cy="7815497"/>
          </a:xfrm>
          <a:custGeom>
            <a:avLst/>
            <a:gdLst/>
            <a:ahLst/>
            <a:cxnLst/>
            <a:rect l="l" t="t" r="r" b="b"/>
            <a:pathLst>
              <a:path w="7616557" h="7815497">
                <a:moveTo>
                  <a:pt x="0" y="0"/>
                </a:moveTo>
                <a:lnTo>
                  <a:pt x="7616556" y="0"/>
                </a:lnTo>
                <a:lnTo>
                  <a:pt x="7616556" y="7815497"/>
                </a:lnTo>
                <a:lnTo>
                  <a:pt x="0" y="781549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a:off x="-2851369" y="-3442596"/>
            <a:ext cx="6709932" cy="6885191"/>
          </a:xfrm>
          <a:custGeom>
            <a:avLst/>
            <a:gdLst/>
            <a:ahLst/>
            <a:cxnLst/>
            <a:rect l="l" t="t" r="r" b="b"/>
            <a:pathLst>
              <a:path w="6709932" h="6885191">
                <a:moveTo>
                  <a:pt x="0" y="0"/>
                </a:moveTo>
                <a:lnTo>
                  <a:pt x="6709932" y="0"/>
                </a:lnTo>
                <a:lnTo>
                  <a:pt x="6709932" y="6885192"/>
                </a:lnTo>
                <a:lnTo>
                  <a:pt x="0" y="688519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Freeform 8"/>
          <p:cNvSpPr/>
          <p:nvPr/>
        </p:nvSpPr>
        <p:spPr>
          <a:xfrm>
            <a:off x="503597" y="3972932"/>
            <a:ext cx="4473739" cy="5919710"/>
          </a:xfrm>
          <a:custGeom>
            <a:avLst/>
            <a:gdLst/>
            <a:ahLst/>
            <a:cxnLst/>
            <a:rect l="l" t="t" r="r" b="b"/>
            <a:pathLst>
              <a:path w="4473739" h="5919710">
                <a:moveTo>
                  <a:pt x="0" y="0"/>
                </a:moveTo>
                <a:lnTo>
                  <a:pt x="4473740" y="0"/>
                </a:lnTo>
                <a:lnTo>
                  <a:pt x="4473740" y="5919710"/>
                </a:lnTo>
                <a:lnTo>
                  <a:pt x="0" y="5919710"/>
                </a:lnTo>
                <a:lnTo>
                  <a:pt x="0" y="0"/>
                </a:lnTo>
                <a:close/>
              </a:path>
            </a:pathLst>
          </a:custGeom>
          <a:blipFill>
            <a:blip r:embed="rId4"/>
            <a:stretch>
              <a:fillRect l="-52260" t="-2978" r="-52260"/>
            </a:stretch>
          </a:blipFill>
        </p:spPr>
      </p:sp>
      <p:grpSp>
        <p:nvGrpSpPr>
          <p:cNvPr id="9" name="Group 9"/>
          <p:cNvGrpSpPr/>
          <p:nvPr/>
        </p:nvGrpSpPr>
        <p:grpSpPr>
          <a:xfrm>
            <a:off x="503597" y="3540105"/>
            <a:ext cx="4473739" cy="636748"/>
            <a:chOff x="0" y="0"/>
            <a:chExt cx="1178269" cy="167703"/>
          </a:xfrm>
        </p:grpSpPr>
        <p:sp>
          <p:nvSpPr>
            <p:cNvPr id="10" name="Freeform 10"/>
            <p:cNvSpPr/>
            <p:nvPr/>
          </p:nvSpPr>
          <p:spPr>
            <a:xfrm>
              <a:off x="0" y="0"/>
              <a:ext cx="1178269" cy="167703"/>
            </a:xfrm>
            <a:custGeom>
              <a:avLst/>
              <a:gdLst/>
              <a:ahLst/>
              <a:cxnLst/>
              <a:rect l="l" t="t" r="r" b="b"/>
              <a:pathLst>
                <a:path w="1178269" h="167703">
                  <a:moveTo>
                    <a:pt x="0" y="0"/>
                  </a:moveTo>
                  <a:lnTo>
                    <a:pt x="1178269" y="0"/>
                  </a:lnTo>
                  <a:lnTo>
                    <a:pt x="1178269" y="167703"/>
                  </a:lnTo>
                  <a:lnTo>
                    <a:pt x="0" y="167703"/>
                  </a:lnTo>
                  <a:close/>
                </a:path>
              </a:pathLst>
            </a:custGeom>
            <a:solidFill>
              <a:srgbClr val="1A1A1A"/>
            </a:solidFill>
          </p:spPr>
        </p:sp>
        <p:sp>
          <p:nvSpPr>
            <p:cNvPr id="11" name="TextBox 11"/>
            <p:cNvSpPr txBox="1"/>
            <p:nvPr/>
          </p:nvSpPr>
          <p:spPr>
            <a:xfrm>
              <a:off x="0" y="-57150"/>
              <a:ext cx="1178269" cy="224853"/>
            </a:xfrm>
            <a:prstGeom prst="rect">
              <a:avLst/>
            </a:prstGeom>
          </p:spPr>
          <p:txBody>
            <a:bodyPr lIns="50800" tIns="50800" rIns="50800" bIns="50800" rtlCol="0" anchor="ctr"/>
            <a:lstStyle/>
            <a:p>
              <a:pPr marL="0" lvl="0" indent="0" algn="ctr">
                <a:lnSpc>
                  <a:spcPts val="4114"/>
                </a:lnSpc>
                <a:spcBef>
                  <a:spcPct val="0"/>
                </a:spcBef>
              </a:pPr>
              <a:r>
                <a:rPr lang="en-US" sz="2981" i="1" spc="29">
                  <a:solidFill>
                    <a:srgbClr val="FFFFFF"/>
                  </a:solidFill>
                  <a:latin typeface="DM Sans Italics"/>
                  <a:ea typeface="DM Sans Italics"/>
                  <a:cs typeface="DM Sans Italics"/>
                  <a:sym typeface="DM Sans Italics"/>
                </a:rPr>
                <a:t>Health CheckUp</a:t>
              </a:r>
            </a:p>
          </p:txBody>
        </p:sp>
      </p:grpSp>
      <p:sp>
        <p:nvSpPr>
          <p:cNvPr id="12" name="TextBox 12"/>
          <p:cNvSpPr txBox="1"/>
          <p:nvPr/>
        </p:nvSpPr>
        <p:spPr>
          <a:xfrm>
            <a:off x="3690980" y="1232286"/>
            <a:ext cx="10906040" cy="1349947"/>
          </a:xfrm>
          <a:prstGeom prst="rect">
            <a:avLst/>
          </a:prstGeom>
        </p:spPr>
        <p:txBody>
          <a:bodyPr lIns="0" tIns="0" rIns="0" bIns="0" rtlCol="0" anchor="t">
            <a:spAutoFit/>
          </a:bodyPr>
          <a:lstStyle/>
          <a:p>
            <a:pPr algn="ctr">
              <a:lnSpc>
                <a:spcPts val="11082"/>
              </a:lnSpc>
            </a:pPr>
            <a:r>
              <a:rPr lang="en-US" sz="8030" b="1" spc="786">
                <a:solidFill>
                  <a:srgbClr val="FFFFFF"/>
                </a:solidFill>
                <a:latin typeface="Oswald Bold"/>
                <a:ea typeface="Oswald Bold"/>
                <a:cs typeface="Oswald Bold"/>
                <a:sym typeface="Oswald Bold"/>
              </a:rPr>
              <a:t>SERVICES</a:t>
            </a:r>
          </a:p>
        </p:txBody>
      </p:sp>
      <p:grpSp>
        <p:nvGrpSpPr>
          <p:cNvPr id="13" name="Group 13"/>
          <p:cNvGrpSpPr/>
          <p:nvPr/>
        </p:nvGrpSpPr>
        <p:grpSpPr>
          <a:xfrm>
            <a:off x="5365495" y="3540105"/>
            <a:ext cx="12635126" cy="6352537"/>
            <a:chOff x="0" y="0"/>
            <a:chExt cx="2440048" cy="1226778"/>
          </a:xfrm>
        </p:grpSpPr>
        <p:sp>
          <p:nvSpPr>
            <p:cNvPr id="14" name="Freeform 14"/>
            <p:cNvSpPr/>
            <p:nvPr/>
          </p:nvSpPr>
          <p:spPr>
            <a:xfrm>
              <a:off x="0" y="0"/>
              <a:ext cx="2440048" cy="1226778"/>
            </a:xfrm>
            <a:custGeom>
              <a:avLst/>
              <a:gdLst/>
              <a:ahLst/>
              <a:cxnLst/>
              <a:rect l="l" t="t" r="r" b="b"/>
              <a:pathLst>
                <a:path w="2440048" h="1226778">
                  <a:moveTo>
                    <a:pt x="0" y="0"/>
                  </a:moveTo>
                  <a:lnTo>
                    <a:pt x="2440048" y="0"/>
                  </a:lnTo>
                  <a:lnTo>
                    <a:pt x="2440048" y="1226778"/>
                  </a:lnTo>
                  <a:lnTo>
                    <a:pt x="0" y="1226778"/>
                  </a:lnTo>
                  <a:close/>
                </a:path>
              </a:pathLst>
            </a:custGeom>
            <a:solidFill>
              <a:srgbClr val="000000">
                <a:alpha val="0"/>
              </a:srgbClr>
            </a:solidFill>
            <a:ln w="38100" cap="sq">
              <a:solidFill>
                <a:srgbClr val="000000"/>
              </a:solidFill>
              <a:prstDash val="solid"/>
              <a:miter/>
            </a:ln>
          </p:spPr>
        </p:sp>
        <p:sp>
          <p:nvSpPr>
            <p:cNvPr id="15" name="TextBox 15"/>
            <p:cNvSpPr txBox="1"/>
            <p:nvPr/>
          </p:nvSpPr>
          <p:spPr>
            <a:xfrm>
              <a:off x="0" y="-19050"/>
              <a:ext cx="2440048" cy="1245828"/>
            </a:xfrm>
            <a:prstGeom prst="rect">
              <a:avLst/>
            </a:prstGeom>
          </p:spPr>
          <p:txBody>
            <a:bodyPr lIns="50800" tIns="50800" rIns="50800" bIns="50800" rtlCol="0" anchor="ctr"/>
            <a:lstStyle/>
            <a:p>
              <a:pPr algn="ctr">
                <a:lnSpc>
                  <a:spcPts val="2859"/>
                </a:lnSpc>
              </a:pPr>
              <a:endParaRPr/>
            </a:p>
          </p:txBody>
        </p:sp>
      </p:grpSp>
      <p:sp>
        <p:nvSpPr>
          <p:cNvPr id="16" name="TextBox 16"/>
          <p:cNvSpPr txBox="1"/>
          <p:nvPr/>
        </p:nvSpPr>
        <p:spPr>
          <a:xfrm>
            <a:off x="5699484" y="4138753"/>
            <a:ext cx="10282628" cy="5986522"/>
          </a:xfrm>
          <a:prstGeom prst="rect">
            <a:avLst/>
          </a:prstGeom>
        </p:spPr>
        <p:txBody>
          <a:bodyPr lIns="0" tIns="0" rIns="0" bIns="0" rtlCol="0" anchor="t">
            <a:spAutoFit/>
          </a:bodyPr>
          <a:lstStyle/>
          <a:p>
            <a:pPr marL="494205" lvl="1" indent="-247102" algn="l">
              <a:lnSpc>
                <a:spcPts val="3158"/>
              </a:lnSpc>
              <a:buAutoNum type="arabicPeriod"/>
            </a:pPr>
            <a:r>
              <a:rPr lang="en-US" sz="2289" spc="224">
                <a:solidFill>
                  <a:srgbClr val="231F20"/>
                </a:solidFill>
                <a:latin typeface="DM Sans"/>
                <a:ea typeface="DM Sans"/>
                <a:cs typeface="DM Sans"/>
                <a:sym typeface="DM Sans"/>
              </a:rPr>
              <a:t>Diseases-</a:t>
            </a:r>
          </a:p>
          <a:p>
            <a:pPr marL="494205" lvl="1" indent="-247102" algn="l">
              <a:lnSpc>
                <a:spcPts val="3158"/>
              </a:lnSpc>
              <a:buFont typeface="Arial"/>
              <a:buChar char="•"/>
            </a:pPr>
            <a:r>
              <a:rPr lang="en-US" sz="2289" spc="224">
                <a:solidFill>
                  <a:srgbClr val="231F20"/>
                </a:solidFill>
                <a:latin typeface="DM Sans"/>
                <a:ea typeface="DM Sans"/>
                <a:cs typeface="DM Sans"/>
                <a:sym typeface="DM Sans"/>
              </a:rPr>
              <a:t>HIV/AIDS</a:t>
            </a:r>
          </a:p>
          <a:p>
            <a:pPr marL="494205" lvl="1" indent="-247102" algn="l">
              <a:lnSpc>
                <a:spcPts val="3158"/>
              </a:lnSpc>
              <a:buFont typeface="Arial"/>
              <a:buChar char="•"/>
            </a:pPr>
            <a:r>
              <a:rPr lang="en-US" sz="2289" spc="224">
                <a:solidFill>
                  <a:srgbClr val="231F20"/>
                </a:solidFill>
                <a:latin typeface="DM Sans"/>
                <a:ea typeface="DM Sans"/>
                <a:cs typeface="DM Sans"/>
                <a:sym typeface="DM Sans"/>
              </a:rPr>
              <a:t>Hepatitis B &amp;C</a:t>
            </a:r>
          </a:p>
          <a:p>
            <a:pPr marL="494205" lvl="1" indent="-247102" algn="l">
              <a:lnSpc>
                <a:spcPts val="3158"/>
              </a:lnSpc>
              <a:buFont typeface="Arial"/>
              <a:buChar char="•"/>
            </a:pPr>
            <a:r>
              <a:rPr lang="en-US" sz="2289" spc="224">
                <a:solidFill>
                  <a:srgbClr val="231F20"/>
                </a:solidFill>
                <a:latin typeface="DM Sans"/>
                <a:ea typeface="DM Sans"/>
                <a:cs typeface="DM Sans"/>
                <a:sym typeface="DM Sans"/>
              </a:rPr>
              <a:t>Syphilis</a:t>
            </a:r>
          </a:p>
          <a:p>
            <a:pPr marL="494205" lvl="1" indent="-247102" algn="l">
              <a:lnSpc>
                <a:spcPts val="3158"/>
              </a:lnSpc>
              <a:buFont typeface="Arial"/>
              <a:buChar char="•"/>
            </a:pPr>
            <a:r>
              <a:rPr lang="en-US" sz="2289" spc="224">
                <a:solidFill>
                  <a:srgbClr val="231F20"/>
                </a:solidFill>
                <a:latin typeface="DM Sans"/>
                <a:ea typeface="DM Sans"/>
                <a:cs typeface="DM Sans"/>
                <a:sym typeface="DM Sans"/>
              </a:rPr>
              <a:t>West Nile virus</a:t>
            </a:r>
          </a:p>
          <a:p>
            <a:pPr marL="494205" lvl="1" indent="-247102" algn="l">
              <a:lnSpc>
                <a:spcPts val="3158"/>
              </a:lnSpc>
              <a:buFont typeface="Arial"/>
              <a:buChar char="•"/>
            </a:pPr>
            <a:r>
              <a:rPr lang="en-US" sz="2289" spc="224">
                <a:solidFill>
                  <a:srgbClr val="231F20"/>
                </a:solidFill>
                <a:latin typeface="DM Sans"/>
                <a:ea typeface="DM Sans"/>
                <a:cs typeface="DM Sans"/>
                <a:sym typeface="DM Sans"/>
              </a:rPr>
              <a:t>Zika Virus</a:t>
            </a:r>
          </a:p>
          <a:p>
            <a:pPr marL="494205" lvl="1" indent="-247102" algn="l">
              <a:lnSpc>
                <a:spcPts val="3158"/>
              </a:lnSpc>
              <a:buFont typeface="Arial"/>
              <a:buChar char="•"/>
            </a:pPr>
            <a:r>
              <a:rPr lang="en-US" sz="2289" spc="224">
                <a:solidFill>
                  <a:srgbClr val="231F20"/>
                </a:solidFill>
                <a:latin typeface="DM Sans"/>
                <a:ea typeface="DM Sans"/>
                <a:cs typeface="DM Sans"/>
                <a:sym typeface="DM Sans"/>
              </a:rPr>
              <a:t>Malaria</a:t>
            </a:r>
          </a:p>
          <a:p>
            <a:pPr marL="494205" lvl="1" indent="-247102" algn="l">
              <a:lnSpc>
                <a:spcPts val="3158"/>
              </a:lnSpc>
              <a:buAutoNum type="arabicPeriod"/>
            </a:pPr>
            <a:r>
              <a:rPr lang="en-US" sz="2289" spc="224">
                <a:solidFill>
                  <a:srgbClr val="231F20"/>
                </a:solidFill>
                <a:latin typeface="DM Sans"/>
                <a:ea typeface="DM Sans"/>
                <a:cs typeface="DM Sans"/>
                <a:sym typeface="DM Sans"/>
              </a:rPr>
              <a:t>Medications-</a:t>
            </a:r>
          </a:p>
          <a:p>
            <a:pPr marL="494205" lvl="1" indent="-247102" algn="l">
              <a:lnSpc>
                <a:spcPts val="3158"/>
              </a:lnSpc>
              <a:buFont typeface="Arial"/>
              <a:buChar char="•"/>
            </a:pPr>
            <a:r>
              <a:rPr lang="en-US" sz="2289" spc="224">
                <a:solidFill>
                  <a:srgbClr val="231F20"/>
                </a:solidFill>
                <a:latin typeface="DM Sans"/>
                <a:ea typeface="DM Sans"/>
                <a:cs typeface="DM Sans"/>
                <a:sym typeface="DM Sans"/>
              </a:rPr>
              <a:t>Certain antibiotics </a:t>
            </a:r>
          </a:p>
          <a:p>
            <a:pPr marL="494205" lvl="1" indent="-247102" algn="l">
              <a:lnSpc>
                <a:spcPts val="3158"/>
              </a:lnSpc>
              <a:buFont typeface="Arial"/>
              <a:buChar char="•"/>
            </a:pPr>
            <a:r>
              <a:rPr lang="en-US" sz="2289" spc="224">
                <a:solidFill>
                  <a:srgbClr val="231F20"/>
                </a:solidFill>
                <a:latin typeface="DM Sans"/>
                <a:ea typeface="DM Sans"/>
                <a:cs typeface="DM Sans"/>
                <a:sym typeface="DM Sans"/>
              </a:rPr>
              <a:t>Blood thinners</a:t>
            </a:r>
          </a:p>
          <a:p>
            <a:pPr marL="494205" lvl="1" indent="-247102" algn="l">
              <a:lnSpc>
                <a:spcPts val="3158"/>
              </a:lnSpc>
              <a:buFont typeface="Arial"/>
              <a:buChar char="•"/>
            </a:pPr>
            <a:r>
              <a:rPr lang="en-US" sz="2289" spc="224">
                <a:solidFill>
                  <a:srgbClr val="231F20"/>
                </a:solidFill>
                <a:latin typeface="DM Sans"/>
                <a:ea typeface="DM Sans"/>
                <a:cs typeface="DM Sans"/>
                <a:sym typeface="DM Sans"/>
              </a:rPr>
              <a:t>Medications for autoimmune diseases </a:t>
            </a:r>
          </a:p>
          <a:p>
            <a:pPr marL="494205" lvl="1" indent="-247102" algn="l">
              <a:lnSpc>
                <a:spcPts val="3158"/>
              </a:lnSpc>
              <a:buAutoNum type="arabicPeriod"/>
            </a:pPr>
            <a:r>
              <a:rPr lang="en-US" sz="2289" spc="224">
                <a:solidFill>
                  <a:srgbClr val="231F20"/>
                </a:solidFill>
                <a:latin typeface="DM Sans"/>
                <a:ea typeface="DM Sans"/>
                <a:cs typeface="DM Sans"/>
                <a:sym typeface="DM Sans"/>
              </a:rPr>
              <a:t>Travel History </a:t>
            </a:r>
          </a:p>
          <a:p>
            <a:pPr marL="494205" lvl="1" indent="-247102" algn="l">
              <a:lnSpc>
                <a:spcPts val="3158"/>
              </a:lnSpc>
              <a:buAutoNum type="arabicPeriod"/>
            </a:pPr>
            <a:r>
              <a:rPr lang="en-US" sz="2289" spc="224">
                <a:solidFill>
                  <a:srgbClr val="231F20"/>
                </a:solidFill>
                <a:latin typeface="DM Sans"/>
                <a:ea typeface="DM Sans"/>
                <a:cs typeface="DM Sans"/>
                <a:sym typeface="DM Sans"/>
              </a:rPr>
              <a:t>Haemoglobin Level</a:t>
            </a:r>
          </a:p>
          <a:p>
            <a:pPr algn="l">
              <a:lnSpc>
                <a:spcPts val="3158"/>
              </a:lnSpc>
            </a:pPr>
            <a:r>
              <a:rPr lang="en-US" sz="2289" spc="224">
                <a:solidFill>
                  <a:srgbClr val="231F20"/>
                </a:solidFill>
                <a:latin typeface="DM Sans"/>
                <a:ea typeface="DM Sans"/>
                <a:cs typeface="DM Sans"/>
                <a:sym typeface="DM Sans"/>
              </a:rPr>
              <a:t> </a:t>
            </a:r>
          </a:p>
          <a:p>
            <a:pPr algn="l">
              <a:lnSpc>
                <a:spcPts val="3158"/>
              </a:lnSpc>
            </a:pPr>
            <a:r>
              <a:rPr lang="en-US" sz="2289" spc="224">
                <a:solidFill>
                  <a:srgbClr val="231F20"/>
                </a:solidFill>
                <a:latin typeface="DM Sans"/>
                <a:ea typeface="DM Sans"/>
                <a:cs typeface="DM Sans"/>
                <a:sym typeface="DM Sans"/>
              </a:rPr>
              <a:t> </a:t>
            </a:r>
          </a:p>
        </p:txBody>
      </p:sp>
      <p:sp>
        <p:nvSpPr>
          <p:cNvPr id="17" name="TextBox 17"/>
          <p:cNvSpPr txBox="1"/>
          <p:nvPr/>
        </p:nvSpPr>
        <p:spPr>
          <a:xfrm>
            <a:off x="12595754" y="4138753"/>
            <a:ext cx="10282628" cy="3986272"/>
          </a:xfrm>
          <a:prstGeom prst="rect">
            <a:avLst/>
          </a:prstGeom>
        </p:spPr>
        <p:txBody>
          <a:bodyPr lIns="0" tIns="0" rIns="0" bIns="0" rtlCol="0" anchor="t">
            <a:spAutoFit/>
          </a:bodyPr>
          <a:lstStyle/>
          <a:p>
            <a:pPr algn="l">
              <a:lnSpc>
                <a:spcPts val="3158"/>
              </a:lnSpc>
            </a:pPr>
            <a:r>
              <a:rPr lang="en-US" sz="2289" spc="224">
                <a:solidFill>
                  <a:srgbClr val="231F20"/>
                </a:solidFill>
                <a:latin typeface="DM Sans"/>
                <a:ea typeface="DM Sans"/>
                <a:cs typeface="DM Sans"/>
                <a:sym typeface="DM Sans"/>
              </a:rPr>
              <a:t>5. Vital Signs- BP </a:t>
            </a:r>
          </a:p>
          <a:p>
            <a:pPr algn="l">
              <a:lnSpc>
                <a:spcPts val="3158"/>
              </a:lnSpc>
            </a:pPr>
            <a:r>
              <a:rPr lang="en-US" sz="2289" spc="224">
                <a:solidFill>
                  <a:srgbClr val="231F20"/>
                </a:solidFill>
                <a:latin typeface="DM Sans"/>
                <a:ea typeface="DM Sans"/>
                <a:cs typeface="DM Sans"/>
                <a:sym typeface="DM Sans"/>
              </a:rPr>
              <a:t>                    - Pulse rate</a:t>
            </a:r>
          </a:p>
          <a:p>
            <a:pPr algn="l">
              <a:lnSpc>
                <a:spcPts val="3158"/>
              </a:lnSpc>
            </a:pPr>
            <a:r>
              <a:rPr lang="en-US" sz="2289" spc="224">
                <a:solidFill>
                  <a:srgbClr val="231F20"/>
                </a:solidFill>
                <a:latin typeface="DM Sans"/>
                <a:ea typeface="DM Sans"/>
                <a:cs typeface="DM Sans"/>
                <a:sym typeface="DM Sans"/>
              </a:rPr>
              <a:t>6. Age and Weight </a:t>
            </a:r>
          </a:p>
          <a:p>
            <a:pPr algn="l">
              <a:lnSpc>
                <a:spcPts val="3158"/>
              </a:lnSpc>
            </a:pPr>
            <a:r>
              <a:rPr lang="en-US" sz="2289" spc="224">
                <a:solidFill>
                  <a:srgbClr val="231F20"/>
                </a:solidFill>
                <a:latin typeface="DM Sans"/>
                <a:ea typeface="DM Sans"/>
                <a:cs typeface="DM Sans"/>
                <a:sym typeface="DM Sans"/>
              </a:rPr>
              <a:t>7. Pregnancy</a:t>
            </a:r>
          </a:p>
          <a:p>
            <a:pPr algn="l">
              <a:lnSpc>
                <a:spcPts val="3158"/>
              </a:lnSpc>
            </a:pPr>
            <a:r>
              <a:rPr lang="en-US" sz="2289" spc="224">
                <a:solidFill>
                  <a:srgbClr val="231F20"/>
                </a:solidFill>
                <a:latin typeface="DM Sans"/>
                <a:ea typeface="DM Sans"/>
                <a:cs typeface="DM Sans"/>
                <a:sym typeface="DM Sans"/>
              </a:rPr>
              <a:t>8. Recent blood transfusion </a:t>
            </a:r>
          </a:p>
          <a:p>
            <a:pPr algn="l">
              <a:lnSpc>
                <a:spcPts val="3158"/>
              </a:lnSpc>
            </a:pPr>
            <a:r>
              <a:rPr lang="en-US" sz="2289" spc="224">
                <a:solidFill>
                  <a:srgbClr val="231F20"/>
                </a:solidFill>
                <a:latin typeface="DM Sans"/>
                <a:ea typeface="DM Sans"/>
                <a:cs typeface="DM Sans"/>
                <a:sym typeface="DM Sans"/>
              </a:rPr>
              <a:t>9. Tattoo and piercing</a:t>
            </a:r>
          </a:p>
          <a:p>
            <a:pPr algn="l">
              <a:lnSpc>
                <a:spcPts val="3158"/>
              </a:lnSpc>
            </a:pPr>
            <a:r>
              <a:rPr lang="en-US" sz="2289" spc="224">
                <a:solidFill>
                  <a:srgbClr val="231F20"/>
                </a:solidFill>
                <a:latin typeface="DM Sans"/>
                <a:ea typeface="DM Sans"/>
                <a:cs typeface="DM Sans"/>
                <a:sym typeface="DM Sans"/>
              </a:rPr>
              <a:t>10. Sexual History             </a:t>
            </a:r>
          </a:p>
          <a:p>
            <a:pPr algn="l">
              <a:lnSpc>
                <a:spcPts val="3158"/>
              </a:lnSpc>
            </a:pPr>
            <a:r>
              <a:rPr lang="en-US" sz="2289" spc="224">
                <a:solidFill>
                  <a:srgbClr val="231F20"/>
                </a:solidFill>
                <a:latin typeface="DM Sans"/>
                <a:ea typeface="DM Sans"/>
                <a:cs typeface="DM Sans"/>
                <a:sym typeface="DM Sans"/>
              </a:rPr>
              <a:t> </a:t>
            </a:r>
          </a:p>
          <a:p>
            <a:pPr algn="l">
              <a:lnSpc>
                <a:spcPts val="3158"/>
              </a:lnSpc>
            </a:pPr>
            <a:endParaRPr lang="en-US" sz="2289" spc="224">
              <a:solidFill>
                <a:srgbClr val="231F20"/>
              </a:solidFill>
              <a:latin typeface="DM Sans"/>
              <a:ea typeface="DM Sans"/>
              <a:cs typeface="DM Sans"/>
              <a:sym typeface="DM Sans"/>
            </a:endParaRPr>
          </a:p>
          <a:p>
            <a:pPr algn="l">
              <a:lnSpc>
                <a:spcPts val="3158"/>
              </a:lnSpc>
            </a:pPr>
            <a:r>
              <a:rPr lang="en-US" sz="2289" spc="224">
                <a:solidFill>
                  <a:srgbClr val="231F20"/>
                </a:solidFill>
                <a:latin typeface="DM Sans"/>
                <a:ea typeface="DM Sans"/>
                <a:cs typeface="DM Sans"/>
                <a:sym typeface="DM Sans"/>
              </a:rPr>
              <a:t> </a:t>
            </a:r>
          </a:p>
        </p:txBody>
      </p:sp>
      <p:sp>
        <p:nvSpPr>
          <p:cNvPr id="18" name="TextBox 18"/>
          <p:cNvSpPr txBox="1"/>
          <p:nvPr/>
        </p:nvSpPr>
        <p:spPr>
          <a:xfrm>
            <a:off x="4977337" y="3620071"/>
            <a:ext cx="9424274" cy="696196"/>
          </a:xfrm>
          <a:prstGeom prst="rect">
            <a:avLst/>
          </a:prstGeom>
        </p:spPr>
        <p:txBody>
          <a:bodyPr lIns="0" tIns="0" rIns="0" bIns="0" rtlCol="0" anchor="t">
            <a:spAutoFit/>
          </a:bodyPr>
          <a:lstStyle/>
          <a:p>
            <a:pPr algn="ctr">
              <a:lnSpc>
                <a:spcPts val="2885"/>
              </a:lnSpc>
            </a:pPr>
            <a:r>
              <a:rPr lang="en-US" sz="2219" b="1" spc="217">
                <a:solidFill>
                  <a:srgbClr val="000000"/>
                </a:solidFill>
                <a:latin typeface="Open Sauce Bold"/>
                <a:ea typeface="Open Sauce Bold"/>
                <a:cs typeface="Open Sauce Bold"/>
                <a:sym typeface="Open Sauce Bold"/>
              </a:rPr>
              <a:t>These come under eligibility Test for donation.</a:t>
            </a:r>
          </a:p>
          <a:p>
            <a:pPr algn="ctr">
              <a:lnSpc>
                <a:spcPts val="2885"/>
              </a:lnSpc>
              <a:spcBef>
                <a:spcPct val="0"/>
              </a:spcBef>
            </a:pPr>
            <a:endParaRPr lang="en-US" sz="2219" b="1" spc="217">
              <a:solidFill>
                <a:srgbClr val="000000"/>
              </a:solidFill>
              <a:latin typeface="Open Sauce Bold"/>
              <a:ea typeface="Open Sauce Bold"/>
              <a:cs typeface="Open Sauce Bold"/>
              <a:sym typeface="Open Sauce Bo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grpSp>
        <p:nvGrpSpPr>
          <p:cNvPr id="3" name="Group 3"/>
          <p:cNvGrpSpPr/>
          <p:nvPr/>
        </p:nvGrpSpPr>
        <p:grpSpPr>
          <a:xfrm>
            <a:off x="0" y="0"/>
            <a:ext cx="18288000" cy="3086100"/>
            <a:chOff x="0" y="0"/>
            <a:chExt cx="4816593" cy="812800"/>
          </a:xfrm>
        </p:grpSpPr>
        <p:sp>
          <p:nvSpPr>
            <p:cNvPr id="4" name="Freeform 4"/>
            <p:cNvSpPr/>
            <p:nvPr/>
          </p:nvSpPr>
          <p:spPr>
            <a:xfrm>
              <a:off x="0" y="0"/>
              <a:ext cx="4816592" cy="812800"/>
            </a:xfrm>
            <a:custGeom>
              <a:avLst/>
              <a:gdLst/>
              <a:ahLst/>
              <a:cxnLst/>
              <a:rect l="l" t="t" r="r" b="b"/>
              <a:pathLst>
                <a:path w="4816592" h="812800">
                  <a:moveTo>
                    <a:pt x="0" y="0"/>
                  </a:moveTo>
                  <a:lnTo>
                    <a:pt x="4816592" y="0"/>
                  </a:lnTo>
                  <a:lnTo>
                    <a:pt x="4816592" y="812800"/>
                  </a:lnTo>
                  <a:lnTo>
                    <a:pt x="0" y="812800"/>
                  </a:lnTo>
                  <a:close/>
                </a:path>
              </a:pathLst>
            </a:custGeom>
            <a:solidFill>
              <a:srgbClr val="1A1A1A"/>
            </a:solidFill>
          </p:spPr>
        </p:sp>
        <p:sp>
          <p:nvSpPr>
            <p:cNvPr id="5" name="TextBox 5"/>
            <p:cNvSpPr txBox="1"/>
            <p:nvPr/>
          </p:nvSpPr>
          <p:spPr>
            <a:xfrm>
              <a:off x="0" y="-19050"/>
              <a:ext cx="4816593" cy="831850"/>
            </a:xfrm>
            <a:prstGeom prst="rect">
              <a:avLst/>
            </a:prstGeom>
          </p:spPr>
          <p:txBody>
            <a:bodyPr lIns="50800" tIns="50800" rIns="50800" bIns="50800" rtlCol="0" anchor="ctr"/>
            <a:lstStyle/>
            <a:p>
              <a:pPr algn="ctr">
                <a:lnSpc>
                  <a:spcPts val="2859"/>
                </a:lnSpc>
              </a:pPr>
              <a:endParaRPr/>
            </a:p>
          </p:txBody>
        </p:sp>
      </p:grpSp>
      <p:sp>
        <p:nvSpPr>
          <p:cNvPr id="6" name="Freeform 6"/>
          <p:cNvSpPr/>
          <p:nvPr/>
        </p:nvSpPr>
        <p:spPr>
          <a:xfrm>
            <a:off x="13451022" y="-4729397"/>
            <a:ext cx="7616557" cy="7815497"/>
          </a:xfrm>
          <a:custGeom>
            <a:avLst/>
            <a:gdLst/>
            <a:ahLst/>
            <a:cxnLst/>
            <a:rect l="l" t="t" r="r" b="b"/>
            <a:pathLst>
              <a:path w="7616557" h="7815497">
                <a:moveTo>
                  <a:pt x="0" y="0"/>
                </a:moveTo>
                <a:lnTo>
                  <a:pt x="7616556" y="0"/>
                </a:lnTo>
                <a:lnTo>
                  <a:pt x="7616556" y="7815497"/>
                </a:lnTo>
                <a:lnTo>
                  <a:pt x="0" y="781549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a:off x="-2851369" y="-3442596"/>
            <a:ext cx="6709932" cy="6885191"/>
          </a:xfrm>
          <a:custGeom>
            <a:avLst/>
            <a:gdLst/>
            <a:ahLst/>
            <a:cxnLst/>
            <a:rect l="l" t="t" r="r" b="b"/>
            <a:pathLst>
              <a:path w="6709932" h="6885191">
                <a:moveTo>
                  <a:pt x="0" y="0"/>
                </a:moveTo>
                <a:lnTo>
                  <a:pt x="6709932" y="0"/>
                </a:lnTo>
                <a:lnTo>
                  <a:pt x="6709932" y="6885192"/>
                </a:lnTo>
                <a:lnTo>
                  <a:pt x="0" y="688519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Freeform 8"/>
          <p:cNvSpPr/>
          <p:nvPr/>
        </p:nvSpPr>
        <p:spPr>
          <a:xfrm>
            <a:off x="503597" y="3972932"/>
            <a:ext cx="4473739" cy="5919710"/>
          </a:xfrm>
          <a:custGeom>
            <a:avLst/>
            <a:gdLst/>
            <a:ahLst/>
            <a:cxnLst/>
            <a:rect l="l" t="t" r="r" b="b"/>
            <a:pathLst>
              <a:path w="4473739" h="5919710">
                <a:moveTo>
                  <a:pt x="0" y="0"/>
                </a:moveTo>
                <a:lnTo>
                  <a:pt x="4473740" y="0"/>
                </a:lnTo>
                <a:lnTo>
                  <a:pt x="4473740" y="5919710"/>
                </a:lnTo>
                <a:lnTo>
                  <a:pt x="0" y="5919710"/>
                </a:lnTo>
                <a:lnTo>
                  <a:pt x="0" y="0"/>
                </a:lnTo>
                <a:close/>
              </a:path>
            </a:pathLst>
          </a:custGeom>
          <a:blipFill>
            <a:blip r:embed="rId4"/>
            <a:stretch>
              <a:fillRect l="-52260" t="-2978" r="-52260"/>
            </a:stretch>
          </a:blipFill>
        </p:spPr>
      </p:sp>
      <p:grpSp>
        <p:nvGrpSpPr>
          <p:cNvPr id="9" name="Group 9"/>
          <p:cNvGrpSpPr/>
          <p:nvPr/>
        </p:nvGrpSpPr>
        <p:grpSpPr>
          <a:xfrm>
            <a:off x="503597" y="3540105"/>
            <a:ext cx="4473739" cy="636748"/>
            <a:chOff x="0" y="0"/>
            <a:chExt cx="1178269" cy="167703"/>
          </a:xfrm>
        </p:grpSpPr>
        <p:sp>
          <p:nvSpPr>
            <p:cNvPr id="10" name="Freeform 10"/>
            <p:cNvSpPr/>
            <p:nvPr/>
          </p:nvSpPr>
          <p:spPr>
            <a:xfrm>
              <a:off x="0" y="0"/>
              <a:ext cx="1178269" cy="167703"/>
            </a:xfrm>
            <a:custGeom>
              <a:avLst/>
              <a:gdLst/>
              <a:ahLst/>
              <a:cxnLst/>
              <a:rect l="l" t="t" r="r" b="b"/>
              <a:pathLst>
                <a:path w="1178269" h="167703">
                  <a:moveTo>
                    <a:pt x="0" y="0"/>
                  </a:moveTo>
                  <a:lnTo>
                    <a:pt x="1178269" y="0"/>
                  </a:lnTo>
                  <a:lnTo>
                    <a:pt x="1178269" y="167703"/>
                  </a:lnTo>
                  <a:lnTo>
                    <a:pt x="0" y="167703"/>
                  </a:lnTo>
                  <a:close/>
                </a:path>
              </a:pathLst>
            </a:custGeom>
            <a:solidFill>
              <a:srgbClr val="1A1A1A"/>
            </a:solidFill>
          </p:spPr>
        </p:sp>
        <p:sp>
          <p:nvSpPr>
            <p:cNvPr id="11" name="TextBox 11"/>
            <p:cNvSpPr txBox="1"/>
            <p:nvPr/>
          </p:nvSpPr>
          <p:spPr>
            <a:xfrm>
              <a:off x="0" y="-57150"/>
              <a:ext cx="1178269" cy="224853"/>
            </a:xfrm>
            <a:prstGeom prst="rect">
              <a:avLst/>
            </a:prstGeom>
          </p:spPr>
          <p:txBody>
            <a:bodyPr lIns="50800" tIns="50800" rIns="50800" bIns="50800" rtlCol="0" anchor="ctr"/>
            <a:lstStyle/>
            <a:p>
              <a:pPr marL="0" lvl="0" indent="0" algn="ctr">
                <a:lnSpc>
                  <a:spcPts val="4114"/>
                </a:lnSpc>
                <a:spcBef>
                  <a:spcPct val="0"/>
                </a:spcBef>
              </a:pPr>
              <a:r>
                <a:rPr lang="en-US" sz="2981" i="1" spc="29">
                  <a:solidFill>
                    <a:srgbClr val="FFFFFF"/>
                  </a:solidFill>
                  <a:latin typeface="DM Sans Italics"/>
                  <a:ea typeface="DM Sans Italics"/>
                  <a:cs typeface="DM Sans Italics"/>
                  <a:sym typeface="DM Sans Italics"/>
                </a:rPr>
                <a:t>Health CheckUp</a:t>
              </a:r>
            </a:p>
          </p:txBody>
        </p:sp>
      </p:grpSp>
      <p:sp>
        <p:nvSpPr>
          <p:cNvPr id="12" name="TextBox 12"/>
          <p:cNvSpPr txBox="1"/>
          <p:nvPr/>
        </p:nvSpPr>
        <p:spPr>
          <a:xfrm>
            <a:off x="3690980" y="1232286"/>
            <a:ext cx="10906040" cy="1349947"/>
          </a:xfrm>
          <a:prstGeom prst="rect">
            <a:avLst/>
          </a:prstGeom>
        </p:spPr>
        <p:txBody>
          <a:bodyPr lIns="0" tIns="0" rIns="0" bIns="0" rtlCol="0" anchor="t">
            <a:spAutoFit/>
          </a:bodyPr>
          <a:lstStyle/>
          <a:p>
            <a:pPr algn="ctr">
              <a:lnSpc>
                <a:spcPts val="11082"/>
              </a:lnSpc>
            </a:pPr>
            <a:r>
              <a:rPr lang="en-US" sz="8030" b="1" spc="786">
                <a:solidFill>
                  <a:srgbClr val="FFFFFF"/>
                </a:solidFill>
                <a:latin typeface="Oswald Bold"/>
                <a:ea typeface="Oswald Bold"/>
                <a:cs typeface="Oswald Bold"/>
                <a:sym typeface="Oswald Bold"/>
              </a:rPr>
              <a:t>SERVICES</a:t>
            </a:r>
          </a:p>
        </p:txBody>
      </p:sp>
      <p:grpSp>
        <p:nvGrpSpPr>
          <p:cNvPr id="13" name="Group 13"/>
          <p:cNvGrpSpPr/>
          <p:nvPr/>
        </p:nvGrpSpPr>
        <p:grpSpPr>
          <a:xfrm>
            <a:off x="5365495" y="3540105"/>
            <a:ext cx="12635126" cy="6352537"/>
            <a:chOff x="0" y="0"/>
            <a:chExt cx="2440048" cy="1226778"/>
          </a:xfrm>
        </p:grpSpPr>
        <p:sp>
          <p:nvSpPr>
            <p:cNvPr id="14" name="Freeform 14"/>
            <p:cNvSpPr/>
            <p:nvPr/>
          </p:nvSpPr>
          <p:spPr>
            <a:xfrm>
              <a:off x="0" y="0"/>
              <a:ext cx="2440048" cy="1226778"/>
            </a:xfrm>
            <a:custGeom>
              <a:avLst/>
              <a:gdLst/>
              <a:ahLst/>
              <a:cxnLst/>
              <a:rect l="l" t="t" r="r" b="b"/>
              <a:pathLst>
                <a:path w="2440048" h="1226778">
                  <a:moveTo>
                    <a:pt x="0" y="0"/>
                  </a:moveTo>
                  <a:lnTo>
                    <a:pt x="2440048" y="0"/>
                  </a:lnTo>
                  <a:lnTo>
                    <a:pt x="2440048" y="1226778"/>
                  </a:lnTo>
                  <a:lnTo>
                    <a:pt x="0" y="1226778"/>
                  </a:lnTo>
                  <a:close/>
                </a:path>
              </a:pathLst>
            </a:custGeom>
            <a:solidFill>
              <a:srgbClr val="000000">
                <a:alpha val="0"/>
              </a:srgbClr>
            </a:solidFill>
            <a:ln w="38100" cap="sq">
              <a:solidFill>
                <a:srgbClr val="000000"/>
              </a:solidFill>
              <a:prstDash val="solid"/>
              <a:miter/>
            </a:ln>
          </p:spPr>
        </p:sp>
        <p:sp>
          <p:nvSpPr>
            <p:cNvPr id="15" name="TextBox 15"/>
            <p:cNvSpPr txBox="1"/>
            <p:nvPr/>
          </p:nvSpPr>
          <p:spPr>
            <a:xfrm>
              <a:off x="0" y="-19050"/>
              <a:ext cx="2440048" cy="1245828"/>
            </a:xfrm>
            <a:prstGeom prst="rect">
              <a:avLst/>
            </a:prstGeom>
          </p:spPr>
          <p:txBody>
            <a:bodyPr lIns="50800" tIns="50800" rIns="50800" bIns="50800" rtlCol="0" anchor="ctr"/>
            <a:lstStyle/>
            <a:p>
              <a:pPr algn="ctr">
                <a:lnSpc>
                  <a:spcPts val="2859"/>
                </a:lnSpc>
              </a:pPr>
              <a:endParaRPr/>
            </a:p>
          </p:txBody>
        </p:sp>
      </p:grpSp>
      <p:sp>
        <p:nvSpPr>
          <p:cNvPr id="16" name="TextBox 16"/>
          <p:cNvSpPr txBox="1"/>
          <p:nvPr/>
        </p:nvSpPr>
        <p:spPr>
          <a:xfrm>
            <a:off x="5696687" y="3797019"/>
            <a:ext cx="12303935" cy="4786372"/>
          </a:xfrm>
          <a:prstGeom prst="rect">
            <a:avLst/>
          </a:prstGeom>
        </p:spPr>
        <p:txBody>
          <a:bodyPr lIns="0" tIns="0" rIns="0" bIns="0" rtlCol="0" anchor="t">
            <a:spAutoFit/>
          </a:bodyPr>
          <a:lstStyle/>
          <a:p>
            <a:pPr algn="l">
              <a:lnSpc>
                <a:spcPts val="3158"/>
              </a:lnSpc>
            </a:pPr>
            <a:r>
              <a:rPr lang="en-US" sz="2289" b="1" spc="224">
                <a:solidFill>
                  <a:srgbClr val="231F20"/>
                </a:solidFill>
                <a:latin typeface="DM Sans Bold"/>
                <a:ea typeface="DM Sans Bold"/>
                <a:cs typeface="DM Sans Bold"/>
                <a:sym typeface="DM Sans Bold"/>
              </a:rPr>
              <a:t>Health CheckUp (Disease Prediction)-</a:t>
            </a:r>
          </a:p>
          <a:p>
            <a:pPr algn="l">
              <a:lnSpc>
                <a:spcPts val="3158"/>
              </a:lnSpc>
            </a:pPr>
            <a:endParaRPr lang="en-US" sz="2289" b="1" spc="224">
              <a:solidFill>
                <a:srgbClr val="231F20"/>
              </a:solidFill>
              <a:latin typeface="DM Sans Bold"/>
              <a:ea typeface="DM Sans Bold"/>
              <a:cs typeface="DM Sans Bold"/>
              <a:sym typeface="DM Sans Bold"/>
            </a:endParaRPr>
          </a:p>
          <a:p>
            <a:pPr marL="494205" lvl="1" indent="-247102" algn="l">
              <a:lnSpc>
                <a:spcPts val="3158"/>
              </a:lnSpc>
              <a:buAutoNum type="arabicPeriod"/>
            </a:pPr>
            <a:r>
              <a:rPr lang="en-US" sz="2289" spc="224">
                <a:solidFill>
                  <a:srgbClr val="231F20"/>
                </a:solidFill>
                <a:latin typeface="DM Sans"/>
                <a:ea typeface="DM Sans"/>
                <a:cs typeface="DM Sans"/>
                <a:sym typeface="DM Sans"/>
              </a:rPr>
              <a:t>Based on symptoms confirmed by user, disease will be predicted and along with that medication and preventive measures will be suggested for the disease.</a:t>
            </a:r>
          </a:p>
          <a:p>
            <a:pPr marL="494205" lvl="1" indent="-247102" algn="l">
              <a:lnSpc>
                <a:spcPts val="3158"/>
              </a:lnSpc>
              <a:buAutoNum type="arabicPeriod"/>
            </a:pPr>
            <a:r>
              <a:rPr lang="en-US" sz="2289" spc="224">
                <a:solidFill>
                  <a:srgbClr val="231F20"/>
                </a:solidFill>
                <a:latin typeface="DM Sans"/>
                <a:ea typeface="DM Sans"/>
                <a:cs typeface="DM Sans"/>
                <a:sym typeface="DM Sans"/>
              </a:rPr>
              <a:t>Blood Donation slots will be booked in the blood donation centre/camp. The user have names of diseases in which he/she is not eligible to donate blood. It will save users time.</a:t>
            </a:r>
          </a:p>
          <a:p>
            <a:pPr marL="494205" lvl="1" indent="-247102" algn="l">
              <a:lnSpc>
                <a:spcPts val="3158"/>
              </a:lnSpc>
              <a:buAutoNum type="arabicPeriod"/>
            </a:pPr>
            <a:r>
              <a:rPr lang="en-US" sz="2289" spc="224">
                <a:solidFill>
                  <a:srgbClr val="231F20"/>
                </a:solidFill>
                <a:latin typeface="DM Sans"/>
                <a:ea typeface="DM Sans"/>
                <a:cs typeface="DM Sans"/>
                <a:sym typeface="DM Sans"/>
              </a:rPr>
              <a:t>Blood Withdrawal- It will search for the required type of blood in the registered centers and based on centers response, user  will be notified</a:t>
            </a:r>
          </a:p>
          <a:p>
            <a:pPr algn="l">
              <a:lnSpc>
                <a:spcPts val="3158"/>
              </a:lnSpc>
            </a:pPr>
            <a:endParaRPr lang="en-US" sz="2289" spc="224">
              <a:solidFill>
                <a:srgbClr val="231F20"/>
              </a:solidFill>
              <a:latin typeface="DM Sans"/>
              <a:ea typeface="DM Sans"/>
              <a:cs typeface="DM Sans"/>
              <a:sym typeface="DM Sans"/>
            </a:endParaRPr>
          </a:p>
          <a:p>
            <a:pPr algn="l">
              <a:lnSpc>
                <a:spcPts val="3158"/>
              </a:lnSpc>
            </a:pPr>
            <a:endParaRPr lang="en-US" sz="2289" spc="224">
              <a:solidFill>
                <a:srgbClr val="231F20"/>
              </a:solidFill>
              <a:latin typeface="DM Sans"/>
              <a:ea typeface="DM Sans"/>
              <a:cs typeface="DM Sans"/>
              <a:sym typeface="DM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grpSp>
        <p:nvGrpSpPr>
          <p:cNvPr id="3" name="Group 3"/>
          <p:cNvGrpSpPr/>
          <p:nvPr/>
        </p:nvGrpSpPr>
        <p:grpSpPr>
          <a:xfrm>
            <a:off x="0" y="0"/>
            <a:ext cx="18288000" cy="3086100"/>
            <a:chOff x="0" y="0"/>
            <a:chExt cx="4816593" cy="812800"/>
          </a:xfrm>
        </p:grpSpPr>
        <p:sp>
          <p:nvSpPr>
            <p:cNvPr id="4" name="Freeform 4"/>
            <p:cNvSpPr/>
            <p:nvPr/>
          </p:nvSpPr>
          <p:spPr>
            <a:xfrm>
              <a:off x="0" y="0"/>
              <a:ext cx="4816592" cy="812800"/>
            </a:xfrm>
            <a:custGeom>
              <a:avLst/>
              <a:gdLst/>
              <a:ahLst/>
              <a:cxnLst/>
              <a:rect l="l" t="t" r="r" b="b"/>
              <a:pathLst>
                <a:path w="4816592" h="812800">
                  <a:moveTo>
                    <a:pt x="0" y="0"/>
                  </a:moveTo>
                  <a:lnTo>
                    <a:pt x="4816592" y="0"/>
                  </a:lnTo>
                  <a:lnTo>
                    <a:pt x="4816592" y="812800"/>
                  </a:lnTo>
                  <a:lnTo>
                    <a:pt x="0" y="812800"/>
                  </a:lnTo>
                  <a:close/>
                </a:path>
              </a:pathLst>
            </a:custGeom>
            <a:solidFill>
              <a:srgbClr val="1A1A1A"/>
            </a:solidFill>
          </p:spPr>
        </p:sp>
        <p:sp>
          <p:nvSpPr>
            <p:cNvPr id="5" name="TextBox 5"/>
            <p:cNvSpPr txBox="1"/>
            <p:nvPr/>
          </p:nvSpPr>
          <p:spPr>
            <a:xfrm>
              <a:off x="0" y="-19050"/>
              <a:ext cx="4816593" cy="831850"/>
            </a:xfrm>
            <a:prstGeom prst="rect">
              <a:avLst/>
            </a:prstGeom>
          </p:spPr>
          <p:txBody>
            <a:bodyPr lIns="50800" tIns="50800" rIns="50800" bIns="50800" rtlCol="0" anchor="ctr"/>
            <a:lstStyle/>
            <a:p>
              <a:pPr algn="ctr">
                <a:lnSpc>
                  <a:spcPts val="2859"/>
                </a:lnSpc>
              </a:pPr>
              <a:endParaRPr/>
            </a:p>
          </p:txBody>
        </p:sp>
      </p:grpSp>
      <p:sp>
        <p:nvSpPr>
          <p:cNvPr id="6" name="Freeform 6"/>
          <p:cNvSpPr/>
          <p:nvPr/>
        </p:nvSpPr>
        <p:spPr>
          <a:xfrm>
            <a:off x="13451022" y="-4729397"/>
            <a:ext cx="7616557" cy="7815497"/>
          </a:xfrm>
          <a:custGeom>
            <a:avLst/>
            <a:gdLst/>
            <a:ahLst/>
            <a:cxnLst/>
            <a:rect l="l" t="t" r="r" b="b"/>
            <a:pathLst>
              <a:path w="7616557" h="7815497">
                <a:moveTo>
                  <a:pt x="0" y="0"/>
                </a:moveTo>
                <a:lnTo>
                  <a:pt x="7616556" y="0"/>
                </a:lnTo>
                <a:lnTo>
                  <a:pt x="7616556" y="7815497"/>
                </a:lnTo>
                <a:lnTo>
                  <a:pt x="0" y="781549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a:off x="-2851369" y="-3442596"/>
            <a:ext cx="6709932" cy="6885191"/>
          </a:xfrm>
          <a:custGeom>
            <a:avLst/>
            <a:gdLst/>
            <a:ahLst/>
            <a:cxnLst/>
            <a:rect l="l" t="t" r="r" b="b"/>
            <a:pathLst>
              <a:path w="6709932" h="6885191">
                <a:moveTo>
                  <a:pt x="0" y="0"/>
                </a:moveTo>
                <a:lnTo>
                  <a:pt x="6709932" y="0"/>
                </a:lnTo>
                <a:lnTo>
                  <a:pt x="6709932" y="6885192"/>
                </a:lnTo>
                <a:lnTo>
                  <a:pt x="0" y="688519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Freeform 8"/>
          <p:cNvSpPr/>
          <p:nvPr/>
        </p:nvSpPr>
        <p:spPr>
          <a:xfrm>
            <a:off x="503597" y="3972932"/>
            <a:ext cx="4473739" cy="5919710"/>
          </a:xfrm>
          <a:custGeom>
            <a:avLst/>
            <a:gdLst/>
            <a:ahLst/>
            <a:cxnLst/>
            <a:rect l="l" t="t" r="r" b="b"/>
            <a:pathLst>
              <a:path w="4473739" h="5919710">
                <a:moveTo>
                  <a:pt x="0" y="0"/>
                </a:moveTo>
                <a:lnTo>
                  <a:pt x="4473740" y="0"/>
                </a:lnTo>
                <a:lnTo>
                  <a:pt x="4473740" y="5919710"/>
                </a:lnTo>
                <a:lnTo>
                  <a:pt x="0" y="5919710"/>
                </a:lnTo>
                <a:lnTo>
                  <a:pt x="0" y="0"/>
                </a:lnTo>
                <a:close/>
              </a:path>
            </a:pathLst>
          </a:custGeom>
          <a:blipFill>
            <a:blip r:embed="rId4"/>
            <a:stretch>
              <a:fillRect l="-52260" t="-2978" r="-52260"/>
            </a:stretch>
          </a:blipFill>
        </p:spPr>
      </p:sp>
      <p:grpSp>
        <p:nvGrpSpPr>
          <p:cNvPr id="9" name="Group 9"/>
          <p:cNvGrpSpPr/>
          <p:nvPr/>
        </p:nvGrpSpPr>
        <p:grpSpPr>
          <a:xfrm>
            <a:off x="503597" y="3540105"/>
            <a:ext cx="4473739" cy="636748"/>
            <a:chOff x="0" y="0"/>
            <a:chExt cx="1178269" cy="167703"/>
          </a:xfrm>
        </p:grpSpPr>
        <p:sp>
          <p:nvSpPr>
            <p:cNvPr id="10" name="Freeform 10"/>
            <p:cNvSpPr/>
            <p:nvPr/>
          </p:nvSpPr>
          <p:spPr>
            <a:xfrm>
              <a:off x="0" y="0"/>
              <a:ext cx="1178269" cy="167703"/>
            </a:xfrm>
            <a:custGeom>
              <a:avLst/>
              <a:gdLst/>
              <a:ahLst/>
              <a:cxnLst/>
              <a:rect l="l" t="t" r="r" b="b"/>
              <a:pathLst>
                <a:path w="1178269" h="167703">
                  <a:moveTo>
                    <a:pt x="0" y="0"/>
                  </a:moveTo>
                  <a:lnTo>
                    <a:pt x="1178269" y="0"/>
                  </a:lnTo>
                  <a:lnTo>
                    <a:pt x="1178269" y="167703"/>
                  </a:lnTo>
                  <a:lnTo>
                    <a:pt x="0" y="167703"/>
                  </a:lnTo>
                  <a:close/>
                </a:path>
              </a:pathLst>
            </a:custGeom>
            <a:solidFill>
              <a:srgbClr val="1A1A1A"/>
            </a:solidFill>
          </p:spPr>
        </p:sp>
        <p:sp>
          <p:nvSpPr>
            <p:cNvPr id="11" name="TextBox 11"/>
            <p:cNvSpPr txBox="1"/>
            <p:nvPr/>
          </p:nvSpPr>
          <p:spPr>
            <a:xfrm>
              <a:off x="0" y="-57150"/>
              <a:ext cx="1178269" cy="224853"/>
            </a:xfrm>
            <a:prstGeom prst="rect">
              <a:avLst/>
            </a:prstGeom>
          </p:spPr>
          <p:txBody>
            <a:bodyPr lIns="50800" tIns="50800" rIns="50800" bIns="50800" rtlCol="0" anchor="ctr"/>
            <a:lstStyle/>
            <a:p>
              <a:pPr marL="0" lvl="0" indent="0" algn="ctr">
                <a:lnSpc>
                  <a:spcPts val="4114"/>
                </a:lnSpc>
                <a:spcBef>
                  <a:spcPct val="0"/>
                </a:spcBef>
              </a:pPr>
              <a:r>
                <a:rPr lang="en-US" sz="2981" i="1" spc="29">
                  <a:solidFill>
                    <a:srgbClr val="FFFFFF"/>
                  </a:solidFill>
                  <a:latin typeface="DM Sans Italics"/>
                  <a:ea typeface="DM Sans Italics"/>
                  <a:cs typeface="DM Sans Italics"/>
                  <a:sym typeface="DM Sans Italics"/>
                </a:rPr>
                <a:t>Blood Donation </a:t>
              </a:r>
            </a:p>
          </p:txBody>
        </p:sp>
      </p:grpSp>
      <p:sp>
        <p:nvSpPr>
          <p:cNvPr id="12" name="TextBox 12"/>
          <p:cNvSpPr txBox="1"/>
          <p:nvPr/>
        </p:nvSpPr>
        <p:spPr>
          <a:xfrm>
            <a:off x="3690980" y="1232286"/>
            <a:ext cx="10906040" cy="1349947"/>
          </a:xfrm>
          <a:prstGeom prst="rect">
            <a:avLst/>
          </a:prstGeom>
        </p:spPr>
        <p:txBody>
          <a:bodyPr lIns="0" tIns="0" rIns="0" bIns="0" rtlCol="0" anchor="t">
            <a:spAutoFit/>
          </a:bodyPr>
          <a:lstStyle/>
          <a:p>
            <a:pPr algn="ctr">
              <a:lnSpc>
                <a:spcPts val="11082"/>
              </a:lnSpc>
            </a:pPr>
            <a:r>
              <a:rPr lang="en-US" sz="8030" b="1" spc="786">
                <a:solidFill>
                  <a:srgbClr val="FFFFFF"/>
                </a:solidFill>
                <a:latin typeface="Oswald Bold"/>
                <a:ea typeface="Oswald Bold"/>
                <a:cs typeface="Oswald Bold"/>
                <a:sym typeface="Oswald Bold"/>
              </a:rPr>
              <a:t>SERVICES</a:t>
            </a:r>
          </a:p>
        </p:txBody>
      </p:sp>
      <p:grpSp>
        <p:nvGrpSpPr>
          <p:cNvPr id="13" name="Group 13"/>
          <p:cNvGrpSpPr/>
          <p:nvPr/>
        </p:nvGrpSpPr>
        <p:grpSpPr>
          <a:xfrm>
            <a:off x="5365495" y="3540105"/>
            <a:ext cx="12635126" cy="6352537"/>
            <a:chOff x="0" y="0"/>
            <a:chExt cx="2440048" cy="1226778"/>
          </a:xfrm>
        </p:grpSpPr>
        <p:sp>
          <p:nvSpPr>
            <p:cNvPr id="14" name="Freeform 14"/>
            <p:cNvSpPr/>
            <p:nvPr/>
          </p:nvSpPr>
          <p:spPr>
            <a:xfrm>
              <a:off x="0" y="0"/>
              <a:ext cx="2440048" cy="1226778"/>
            </a:xfrm>
            <a:custGeom>
              <a:avLst/>
              <a:gdLst/>
              <a:ahLst/>
              <a:cxnLst/>
              <a:rect l="l" t="t" r="r" b="b"/>
              <a:pathLst>
                <a:path w="2440048" h="1226778">
                  <a:moveTo>
                    <a:pt x="0" y="0"/>
                  </a:moveTo>
                  <a:lnTo>
                    <a:pt x="2440048" y="0"/>
                  </a:lnTo>
                  <a:lnTo>
                    <a:pt x="2440048" y="1226778"/>
                  </a:lnTo>
                  <a:lnTo>
                    <a:pt x="0" y="1226778"/>
                  </a:lnTo>
                  <a:close/>
                </a:path>
              </a:pathLst>
            </a:custGeom>
            <a:solidFill>
              <a:srgbClr val="000000">
                <a:alpha val="0"/>
              </a:srgbClr>
            </a:solidFill>
            <a:ln w="38100" cap="sq">
              <a:solidFill>
                <a:srgbClr val="000000"/>
              </a:solidFill>
              <a:prstDash val="solid"/>
              <a:miter/>
            </a:ln>
          </p:spPr>
        </p:sp>
        <p:sp>
          <p:nvSpPr>
            <p:cNvPr id="15" name="TextBox 15"/>
            <p:cNvSpPr txBox="1"/>
            <p:nvPr/>
          </p:nvSpPr>
          <p:spPr>
            <a:xfrm>
              <a:off x="0" y="-19050"/>
              <a:ext cx="2440048" cy="1245828"/>
            </a:xfrm>
            <a:prstGeom prst="rect">
              <a:avLst/>
            </a:prstGeom>
          </p:spPr>
          <p:txBody>
            <a:bodyPr lIns="50800" tIns="50800" rIns="50800" bIns="50800" rtlCol="0" anchor="ctr"/>
            <a:lstStyle/>
            <a:p>
              <a:pPr algn="ctr">
                <a:lnSpc>
                  <a:spcPts val="2859"/>
                </a:lnSpc>
              </a:pPr>
              <a:endParaRPr/>
            </a:p>
          </p:txBody>
        </p:sp>
      </p:grpSp>
      <p:sp>
        <p:nvSpPr>
          <p:cNvPr id="16" name="TextBox 16"/>
          <p:cNvSpPr txBox="1"/>
          <p:nvPr/>
        </p:nvSpPr>
        <p:spPr>
          <a:xfrm>
            <a:off x="5803489" y="3820379"/>
            <a:ext cx="10499170" cy="3986272"/>
          </a:xfrm>
          <a:prstGeom prst="rect">
            <a:avLst/>
          </a:prstGeom>
        </p:spPr>
        <p:txBody>
          <a:bodyPr lIns="0" tIns="0" rIns="0" bIns="0" rtlCol="0" anchor="t">
            <a:spAutoFit/>
          </a:bodyPr>
          <a:lstStyle/>
          <a:p>
            <a:pPr marL="494205" lvl="1" indent="-247102" algn="l">
              <a:lnSpc>
                <a:spcPts val="3158"/>
              </a:lnSpc>
              <a:buFont typeface="Arial"/>
              <a:buChar char="•"/>
            </a:pPr>
            <a:r>
              <a:rPr lang="en-US" sz="2289" spc="224">
                <a:solidFill>
                  <a:srgbClr val="231F20"/>
                </a:solidFill>
                <a:latin typeface="DM Sans"/>
                <a:ea typeface="DM Sans"/>
                <a:cs typeface="DM Sans"/>
                <a:sym typeface="DM Sans"/>
              </a:rPr>
              <a:t>Age eligibility check (for most thing)</a:t>
            </a:r>
          </a:p>
          <a:p>
            <a:pPr marL="494205" lvl="1" indent="-247102" algn="l">
              <a:lnSpc>
                <a:spcPts val="3158"/>
              </a:lnSpc>
              <a:buFont typeface="Arial"/>
              <a:buChar char="•"/>
            </a:pPr>
            <a:r>
              <a:rPr lang="en-US" sz="2289" spc="224">
                <a:solidFill>
                  <a:srgbClr val="231F20"/>
                </a:solidFill>
                <a:latin typeface="DM Sans"/>
                <a:ea typeface="DM Sans"/>
                <a:cs typeface="DM Sans"/>
                <a:sym typeface="DM Sans"/>
              </a:rPr>
              <a:t>If Health Checkup not done- redirecting to Health CheckUp</a:t>
            </a:r>
          </a:p>
          <a:p>
            <a:pPr marL="494205" lvl="1" indent="-247102" algn="l">
              <a:lnSpc>
                <a:spcPts val="3158"/>
              </a:lnSpc>
              <a:buFont typeface="Arial"/>
              <a:buChar char="•"/>
            </a:pPr>
            <a:r>
              <a:rPr lang="en-US" sz="2289" spc="224">
                <a:solidFill>
                  <a:srgbClr val="231F20"/>
                </a:solidFill>
                <a:latin typeface="DM Sans"/>
                <a:ea typeface="DM Sans"/>
                <a:cs typeface="DM Sans"/>
                <a:sym typeface="DM Sans"/>
              </a:rPr>
              <a:t>If Health Checkup done- checking all other eligibility criteria</a:t>
            </a:r>
          </a:p>
          <a:p>
            <a:pPr marL="494205" lvl="1" indent="-247102" algn="l">
              <a:lnSpc>
                <a:spcPts val="3158"/>
              </a:lnSpc>
              <a:buFont typeface="Arial"/>
              <a:buChar char="•"/>
            </a:pPr>
            <a:r>
              <a:rPr lang="en-US" sz="2289" spc="224">
                <a:solidFill>
                  <a:srgbClr val="231F20"/>
                </a:solidFill>
                <a:latin typeface="DM Sans"/>
                <a:ea typeface="DM Sans"/>
                <a:cs typeface="DM Sans"/>
                <a:sym typeface="DM Sans"/>
              </a:rPr>
              <a:t>If Eligible- getting user’s current location  </a:t>
            </a:r>
          </a:p>
          <a:p>
            <a:pPr algn="l">
              <a:lnSpc>
                <a:spcPts val="3158"/>
              </a:lnSpc>
            </a:pPr>
            <a:r>
              <a:rPr lang="en-US" sz="2289" spc="224">
                <a:solidFill>
                  <a:srgbClr val="231F20"/>
                </a:solidFill>
                <a:latin typeface="DM Sans"/>
                <a:ea typeface="DM Sans"/>
                <a:cs typeface="DM Sans"/>
                <a:sym typeface="DM Sans"/>
              </a:rPr>
              <a:t>                   - finding all nearest blood donation centres </a:t>
            </a:r>
          </a:p>
          <a:p>
            <a:pPr algn="l">
              <a:lnSpc>
                <a:spcPts val="3158"/>
              </a:lnSpc>
            </a:pPr>
            <a:r>
              <a:rPr lang="en-US" sz="2289" spc="224">
                <a:solidFill>
                  <a:srgbClr val="231F20"/>
                </a:solidFill>
                <a:latin typeface="DM Sans"/>
                <a:ea typeface="DM Sans"/>
                <a:cs typeface="DM Sans"/>
                <a:sym typeface="DM Sans"/>
              </a:rPr>
              <a:t>                   - showing the list of those centres with distances </a:t>
            </a:r>
          </a:p>
          <a:p>
            <a:pPr marL="494205" lvl="1" indent="-247102" algn="l">
              <a:lnSpc>
                <a:spcPts val="3158"/>
              </a:lnSpc>
              <a:buFont typeface="Arial"/>
              <a:buChar char="•"/>
            </a:pPr>
            <a:r>
              <a:rPr lang="en-US" sz="2289" spc="224">
                <a:solidFill>
                  <a:srgbClr val="231F20"/>
                </a:solidFill>
                <a:latin typeface="DM Sans"/>
                <a:ea typeface="DM Sans"/>
                <a:cs typeface="DM Sans"/>
                <a:sym typeface="DM Sans"/>
              </a:rPr>
              <a:t>User to book appointment (slot)</a:t>
            </a:r>
          </a:p>
          <a:p>
            <a:pPr marL="494205" lvl="1" indent="-247102" algn="l">
              <a:lnSpc>
                <a:spcPts val="3158"/>
              </a:lnSpc>
              <a:buFont typeface="Arial"/>
              <a:buChar char="•"/>
            </a:pPr>
            <a:r>
              <a:rPr lang="en-US" sz="2289" spc="224">
                <a:solidFill>
                  <a:srgbClr val="231F20"/>
                </a:solidFill>
                <a:latin typeface="DM Sans"/>
                <a:ea typeface="DM Sans"/>
                <a:cs typeface="DM Sans"/>
                <a:sym typeface="DM Sans"/>
              </a:rPr>
              <a:t>Confirmation- user will get confirmation mail before donation</a:t>
            </a:r>
          </a:p>
          <a:p>
            <a:pPr algn="l">
              <a:lnSpc>
                <a:spcPts val="3158"/>
              </a:lnSpc>
            </a:pPr>
            <a:r>
              <a:rPr lang="en-US" sz="2289" spc="224">
                <a:solidFill>
                  <a:srgbClr val="231F20"/>
                </a:solidFill>
                <a:latin typeface="DM Sans"/>
                <a:ea typeface="DM Sans"/>
                <a:cs typeface="DM Sans"/>
                <a:sym typeface="DM Sans"/>
              </a:rPr>
              <a:t>                        - After the donation, taking confirmation from</a:t>
            </a:r>
          </a:p>
          <a:p>
            <a:pPr algn="l">
              <a:lnSpc>
                <a:spcPts val="3158"/>
              </a:lnSpc>
            </a:pPr>
            <a:r>
              <a:rPr lang="en-US" sz="2289" spc="224">
                <a:solidFill>
                  <a:srgbClr val="231F20"/>
                </a:solidFill>
                <a:latin typeface="DM Sans"/>
                <a:ea typeface="DM Sans"/>
                <a:cs typeface="DM Sans"/>
                <a:sym typeface="DM Sans"/>
              </a:rPr>
              <a:t>                           both user and centre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grpSp>
        <p:nvGrpSpPr>
          <p:cNvPr id="3" name="Group 3"/>
          <p:cNvGrpSpPr/>
          <p:nvPr/>
        </p:nvGrpSpPr>
        <p:grpSpPr>
          <a:xfrm>
            <a:off x="0" y="0"/>
            <a:ext cx="18288000" cy="3086100"/>
            <a:chOff x="0" y="0"/>
            <a:chExt cx="4816593" cy="812800"/>
          </a:xfrm>
        </p:grpSpPr>
        <p:sp>
          <p:nvSpPr>
            <p:cNvPr id="4" name="Freeform 4"/>
            <p:cNvSpPr/>
            <p:nvPr/>
          </p:nvSpPr>
          <p:spPr>
            <a:xfrm>
              <a:off x="0" y="0"/>
              <a:ext cx="4816592" cy="812800"/>
            </a:xfrm>
            <a:custGeom>
              <a:avLst/>
              <a:gdLst/>
              <a:ahLst/>
              <a:cxnLst/>
              <a:rect l="l" t="t" r="r" b="b"/>
              <a:pathLst>
                <a:path w="4816592" h="812800">
                  <a:moveTo>
                    <a:pt x="0" y="0"/>
                  </a:moveTo>
                  <a:lnTo>
                    <a:pt x="4816592" y="0"/>
                  </a:lnTo>
                  <a:lnTo>
                    <a:pt x="4816592" y="812800"/>
                  </a:lnTo>
                  <a:lnTo>
                    <a:pt x="0" y="812800"/>
                  </a:lnTo>
                  <a:close/>
                </a:path>
              </a:pathLst>
            </a:custGeom>
            <a:solidFill>
              <a:srgbClr val="1A1A1A"/>
            </a:solidFill>
          </p:spPr>
        </p:sp>
        <p:sp>
          <p:nvSpPr>
            <p:cNvPr id="5" name="TextBox 5"/>
            <p:cNvSpPr txBox="1"/>
            <p:nvPr/>
          </p:nvSpPr>
          <p:spPr>
            <a:xfrm>
              <a:off x="0" y="-19050"/>
              <a:ext cx="4816593" cy="831850"/>
            </a:xfrm>
            <a:prstGeom prst="rect">
              <a:avLst/>
            </a:prstGeom>
          </p:spPr>
          <p:txBody>
            <a:bodyPr lIns="50800" tIns="50800" rIns="50800" bIns="50800" rtlCol="0" anchor="ctr"/>
            <a:lstStyle/>
            <a:p>
              <a:pPr algn="ctr">
                <a:lnSpc>
                  <a:spcPts val="2859"/>
                </a:lnSpc>
              </a:pPr>
              <a:endParaRPr/>
            </a:p>
          </p:txBody>
        </p:sp>
      </p:grpSp>
      <p:sp>
        <p:nvSpPr>
          <p:cNvPr id="6" name="Freeform 6"/>
          <p:cNvSpPr/>
          <p:nvPr/>
        </p:nvSpPr>
        <p:spPr>
          <a:xfrm>
            <a:off x="13451022" y="-4729397"/>
            <a:ext cx="7616557" cy="7815497"/>
          </a:xfrm>
          <a:custGeom>
            <a:avLst/>
            <a:gdLst/>
            <a:ahLst/>
            <a:cxnLst/>
            <a:rect l="l" t="t" r="r" b="b"/>
            <a:pathLst>
              <a:path w="7616557" h="7815497">
                <a:moveTo>
                  <a:pt x="0" y="0"/>
                </a:moveTo>
                <a:lnTo>
                  <a:pt x="7616556" y="0"/>
                </a:lnTo>
                <a:lnTo>
                  <a:pt x="7616556" y="7815497"/>
                </a:lnTo>
                <a:lnTo>
                  <a:pt x="0" y="781549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a:off x="-2851369" y="-3442596"/>
            <a:ext cx="6709932" cy="6885191"/>
          </a:xfrm>
          <a:custGeom>
            <a:avLst/>
            <a:gdLst/>
            <a:ahLst/>
            <a:cxnLst/>
            <a:rect l="l" t="t" r="r" b="b"/>
            <a:pathLst>
              <a:path w="6709932" h="6885191">
                <a:moveTo>
                  <a:pt x="0" y="0"/>
                </a:moveTo>
                <a:lnTo>
                  <a:pt x="6709932" y="0"/>
                </a:lnTo>
                <a:lnTo>
                  <a:pt x="6709932" y="6885192"/>
                </a:lnTo>
                <a:lnTo>
                  <a:pt x="0" y="688519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Freeform 8"/>
          <p:cNvSpPr/>
          <p:nvPr/>
        </p:nvSpPr>
        <p:spPr>
          <a:xfrm>
            <a:off x="503597" y="3972932"/>
            <a:ext cx="4473739" cy="5919710"/>
          </a:xfrm>
          <a:custGeom>
            <a:avLst/>
            <a:gdLst/>
            <a:ahLst/>
            <a:cxnLst/>
            <a:rect l="l" t="t" r="r" b="b"/>
            <a:pathLst>
              <a:path w="4473739" h="5919710">
                <a:moveTo>
                  <a:pt x="0" y="0"/>
                </a:moveTo>
                <a:lnTo>
                  <a:pt x="4473740" y="0"/>
                </a:lnTo>
                <a:lnTo>
                  <a:pt x="4473740" y="5919710"/>
                </a:lnTo>
                <a:lnTo>
                  <a:pt x="0" y="5919710"/>
                </a:lnTo>
                <a:lnTo>
                  <a:pt x="0" y="0"/>
                </a:lnTo>
                <a:close/>
              </a:path>
            </a:pathLst>
          </a:custGeom>
          <a:blipFill>
            <a:blip r:embed="rId4"/>
            <a:stretch>
              <a:fillRect l="-52260" t="-2978" r="-52260"/>
            </a:stretch>
          </a:blipFill>
        </p:spPr>
      </p:sp>
      <p:grpSp>
        <p:nvGrpSpPr>
          <p:cNvPr id="9" name="Group 9"/>
          <p:cNvGrpSpPr/>
          <p:nvPr/>
        </p:nvGrpSpPr>
        <p:grpSpPr>
          <a:xfrm>
            <a:off x="503597" y="3540105"/>
            <a:ext cx="4473739" cy="636748"/>
            <a:chOff x="0" y="0"/>
            <a:chExt cx="1178269" cy="167703"/>
          </a:xfrm>
        </p:grpSpPr>
        <p:sp>
          <p:nvSpPr>
            <p:cNvPr id="10" name="Freeform 10"/>
            <p:cNvSpPr/>
            <p:nvPr/>
          </p:nvSpPr>
          <p:spPr>
            <a:xfrm>
              <a:off x="0" y="0"/>
              <a:ext cx="1178269" cy="167703"/>
            </a:xfrm>
            <a:custGeom>
              <a:avLst/>
              <a:gdLst/>
              <a:ahLst/>
              <a:cxnLst/>
              <a:rect l="l" t="t" r="r" b="b"/>
              <a:pathLst>
                <a:path w="1178269" h="167703">
                  <a:moveTo>
                    <a:pt x="0" y="0"/>
                  </a:moveTo>
                  <a:lnTo>
                    <a:pt x="1178269" y="0"/>
                  </a:lnTo>
                  <a:lnTo>
                    <a:pt x="1178269" y="167703"/>
                  </a:lnTo>
                  <a:lnTo>
                    <a:pt x="0" y="167703"/>
                  </a:lnTo>
                  <a:close/>
                </a:path>
              </a:pathLst>
            </a:custGeom>
            <a:solidFill>
              <a:srgbClr val="1A1A1A"/>
            </a:solidFill>
          </p:spPr>
        </p:sp>
        <p:sp>
          <p:nvSpPr>
            <p:cNvPr id="11" name="TextBox 11"/>
            <p:cNvSpPr txBox="1"/>
            <p:nvPr/>
          </p:nvSpPr>
          <p:spPr>
            <a:xfrm>
              <a:off x="0" y="-57150"/>
              <a:ext cx="1178269" cy="224853"/>
            </a:xfrm>
            <a:prstGeom prst="rect">
              <a:avLst/>
            </a:prstGeom>
          </p:spPr>
          <p:txBody>
            <a:bodyPr lIns="50800" tIns="50800" rIns="50800" bIns="50800" rtlCol="0" anchor="ctr"/>
            <a:lstStyle/>
            <a:p>
              <a:pPr marL="0" lvl="0" indent="0" algn="ctr">
                <a:lnSpc>
                  <a:spcPts val="4114"/>
                </a:lnSpc>
                <a:spcBef>
                  <a:spcPct val="0"/>
                </a:spcBef>
              </a:pPr>
              <a:r>
                <a:rPr lang="en-US" sz="2981" i="1" spc="29">
                  <a:solidFill>
                    <a:srgbClr val="FFFFFF"/>
                  </a:solidFill>
                  <a:latin typeface="DM Sans Italics"/>
                  <a:ea typeface="DM Sans Italics"/>
                  <a:cs typeface="DM Sans Italics"/>
                  <a:sym typeface="DM Sans Italics"/>
                </a:rPr>
                <a:t>Blood Withdrawal </a:t>
              </a:r>
            </a:p>
          </p:txBody>
        </p:sp>
      </p:grpSp>
      <p:sp>
        <p:nvSpPr>
          <p:cNvPr id="12" name="TextBox 12"/>
          <p:cNvSpPr txBox="1"/>
          <p:nvPr/>
        </p:nvSpPr>
        <p:spPr>
          <a:xfrm>
            <a:off x="3690980" y="1232286"/>
            <a:ext cx="10906040" cy="1349947"/>
          </a:xfrm>
          <a:prstGeom prst="rect">
            <a:avLst/>
          </a:prstGeom>
        </p:spPr>
        <p:txBody>
          <a:bodyPr lIns="0" tIns="0" rIns="0" bIns="0" rtlCol="0" anchor="t">
            <a:spAutoFit/>
          </a:bodyPr>
          <a:lstStyle/>
          <a:p>
            <a:pPr algn="ctr">
              <a:lnSpc>
                <a:spcPts val="11082"/>
              </a:lnSpc>
            </a:pPr>
            <a:r>
              <a:rPr lang="en-US" sz="8030" b="1" spc="786">
                <a:solidFill>
                  <a:srgbClr val="FFFFFF"/>
                </a:solidFill>
                <a:latin typeface="Oswald Bold"/>
                <a:ea typeface="Oswald Bold"/>
                <a:cs typeface="Oswald Bold"/>
                <a:sym typeface="Oswald Bold"/>
              </a:rPr>
              <a:t>SERVICES</a:t>
            </a:r>
          </a:p>
        </p:txBody>
      </p:sp>
      <p:grpSp>
        <p:nvGrpSpPr>
          <p:cNvPr id="13" name="Group 13"/>
          <p:cNvGrpSpPr/>
          <p:nvPr/>
        </p:nvGrpSpPr>
        <p:grpSpPr>
          <a:xfrm>
            <a:off x="5365495" y="3540105"/>
            <a:ext cx="12635126" cy="6352537"/>
            <a:chOff x="0" y="0"/>
            <a:chExt cx="2440048" cy="1226778"/>
          </a:xfrm>
        </p:grpSpPr>
        <p:sp>
          <p:nvSpPr>
            <p:cNvPr id="14" name="Freeform 14"/>
            <p:cNvSpPr/>
            <p:nvPr/>
          </p:nvSpPr>
          <p:spPr>
            <a:xfrm>
              <a:off x="0" y="0"/>
              <a:ext cx="2440048" cy="1226778"/>
            </a:xfrm>
            <a:custGeom>
              <a:avLst/>
              <a:gdLst/>
              <a:ahLst/>
              <a:cxnLst/>
              <a:rect l="l" t="t" r="r" b="b"/>
              <a:pathLst>
                <a:path w="2440048" h="1226778">
                  <a:moveTo>
                    <a:pt x="0" y="0"/>
                  </a:moveTo>
                  <a:lnTo>
                    <a:pt x="2440048" y="0"/>
                  </a:lnTo>
                  <a:lnTo>
                    <a:pt x="2440048" y="1226778"/>
                  </a:lnTo>
                  <a:lnTo>
                    <a:pt x="0" y="1226778"/>
                  </a:lnTo>
                  <a:close/>
                </a:path>
              </a:pathLst>
            </a:custGeom>
            <a:solidFill>
              <a:srgbClr val="000000">
                <a:alpha val="0"/>
              </a:srgbClr>
            </a:solidFill>
            <a:ln w="38100" cap="sq">
              <a:solidFill>
                <a:srgbClr val="000000"/>
              </a:solidFill>
              <a:prstDash val="solid"/>
              <a:miter/>
            </a:ln>
          </p:spPr>
        </p:sp>
        <p:sp>
          <p:nvSpPr>
            <p:cNvPr id="15" name="TextBox 15"/>
            <p:cNvSpPr txBox="1"/>
            <p:nvPr/>
          </p:nvSpPr>
          <p:spPr>
            <a:xfrm>
              <a:off x="0" y="-19050"/>
              <a:ext cx="2440048" cy="1245828"/>
            </a:xfrm>
            <a:prstGeom prst="rect">
              <a:avLst/>
            </a:prstGeom>
          </p:spPr>
          <p:txBody>
            <a:bodyPr lIns="50800" tIns="50800" rIns="50800" bIns="50800" rtlCol="0" anchor="ctr"/>
            <a:lstStyle/>
            <a:p>
              <a:pPr algn="ctr">
                <a:lnSpc>
                  <a:spcPts val="2859"/>
                </a:lnSpc>
              </a:pPr>
              <a:endParaRPr/>
            </a:p>
          </p:txBody>
        </p:sp>
      </p:grpSp>
      <p:sp>
        <p:nvSpPr>
          <p:cNvPr id="16" name="TextBox 16"/>
          <p:cNvSpPr txBox="1"/>
          <p:nvPr/>
        </p:nvSpPr>
        <p:spPr>
          <a:xfrm>
            <a:off x="5803489" y="3820379"/>
            <a:ext cx="11904825" cy="4386322"/>
          </a:xfrm>
          <a:prstGeom prst="rect">
            <a:avLst/>
          </a:prstGeom>
        </p:spPr>
        <p:txBody>
          <a:bodyPr lIns="0" tIns="0" rIns="0" bIns="0" rtlCol="0" anchor="t">
            <a:spAutoFit/>
          </a:bodyPr>
          <a:lstStyle/>
          <a:p>
            <a:pPr marL="494205" lvl="1" indent="-247102" algn="l">
              <a:lnSpc>
                <a:spcPts val="3158"/>
              </a:lnSpc>
              <a:buFont typeface="Arial"/>
              <a:buChar char="•"/>
            </a:pPr>
            <a:r>
              <a:rPr lang="en-US" sz="2289" spc="224">
                <a:solidFill>
                  <a:srgbClr val="231F20"/>
                </a:solidFill>
                <a:latin typeface="DM Sans"/>
                <a:ea typeface="DM Sans"/>
                <a:cs typeface="DM Sans"/>
                <a:sym typeface="DM Sans"/>
              </a:rPr>
              <a:t>Connecting with the blood bank centres.</a:t>
            </a:r>
          </a:p>
          <a:p>
            <a:pPr marL="494205" lvl="1" indent="-247102" algn="l">
              <a:lnSpc>
                <a:spcPts val="3158"/>
              </a:lnSpc>
              <a:buFont typeface="Arial"/>
              <a:buChar char="•"/>
            </a:pPr>
            <a:r>
              <a:rPr lang="en-US" sz="2289" spc="224">
                <a:solidFill>
                  <a:srgbClr val="231F20"/>
                </a:solidFill>
                <a:latin typeface="DM Sans"/>
                <a:ea typeface="DM Sans"/>
                <a:cs typeface="DM Sans"/>
                <a:sym typeface="DM Sans"/>
              </a:rPr>
              <a:t>Login into the site. </a:t>
            </a:r>
          </a:p>
          <a:p>
            <a:pPr marL="494205" lvl="1" indent="-247102" algn="l">
              <a:lnSpc>
                <a:spcPts val="3158"/>
              </a:lnSpc>
              <a:buFont typeface="Arial"/>
              <a:buChar char="•"/>
            </a:pPr>
            <a:r>
              <a:rPr lang="en-US" sz="2289" spc="224">
                <a:solidFill>
                  <a:srgbClr val="231F20"/>
                </a:solidFill>
                <a:latin typeface="DM Sans"/>
                <a:ea typeface="DM Sans"/>
                <a:cs typeface="DM Sans"/>
                <a:sym typeface="DM Sans"/>
              </a:rPr>
              <a:t>Blood bank to keep updating and maintaining record of the blood supply.</a:t>
            </a:r>
          </a:p>
          <a:p>
            <a:pPr marL="494205" lvl="1" indent="-247102" algn="l">
              <a:lnSpc>
                <a:spcPts val="3158"/>
              </a:lnSpc>
              <a:buFont typeface="Arial"/>
              <a:buChar char="•"/>
            </a:pPr>
            <a:r>
              <a:rPr lang="en-US" sz="2289" spc="224">
                <a:solidFill>
                  <a:srgbClr val="231F20"/>
                </a:solidFill>
                <a:latin typeface="DM Sans"/>
                <a:ea typeface="DM Sans"/>
                <a:cs typeface="DM Sans"/>
                <a:sym typeface="DM Sans"/>
              </a:rPr>
              <a:t>For user-</a:t>
            </a:r>
          </a:p>
          <a:p>
            <a:pPr marL="494205" lvl="1" indent="-247102" algn="l">
              <a:lnSpc>
                <a:spcPts val="3158"/>
              </a:lnSpc>
              <a:buAutoNum type="arabicPeriod"/>
            </a:pPr>
            <a:r>
              <a:rPr lang="en-US" sz="2289" spc="224">
                <a:solidFill>
                  <a:srgbClr val="231F20"/>
                </a:solidFill>
                <a:latin typeface="DM Sans"/>
                <a:ea typeface="DM Sans"/>
                <a:cs typeface="DM Sans"/>
                <a:sym typeface="DM Sans"/>
              </a:rPr>
              <a:t> Asking which blood group is required.  </a:t>
            </a:r>
          </a:p>
          <a:p>
            <a:pPr marL="494205" lvl="1" indent="-247102" algn="l">
              <a:lnSpc>
                <a:spcPts val="3158"/>
              </a:lnSpc>
              <a:buAutoNum type="arabicPeriod"/>
            </a:pPr>
            <a:r>
              <a:rPr lang="en-US" sz="2289" spc="224">
                <a:solidFill>
                  <a:srgbClr val="231F20"/>
                </a:solidFill>
                <a:latin typeface="DM Sans"/>
                <a:ea typeface="DM Sans"/>
                <a:cs typeface="DM Sans"/>
                <a:sym typeface="DM Sans"/>
              </a:rPr>
              <a:t>Checking Up nearest Blood banks for the same blood group.</a:t>
            </a:r>
          </a:p>
          <a:p>
            <a:pPr marL="494205" lvl="1" indent="-247102" algn="l">
              <a:lnSpc>
                <a:spcPts val="3158"/>
              </a:lnSpc>
              <a:buAutoNum type="arabicPeriod"/>
            </a:pPr>
            <a:r>
              <a:rPr lang="en-US" sz="2289" spc="224">
                <a:solidFill>
                  <a:srgbClr val="231F20"/>
                </a:solidFill>
                <a:latin typeface="DM Sans"/>
                <a:ea typeface="DM Sans"/>
                <a:cs typeface="DM Sans"/>
                <a:sym typeface="DM Sans"/>
              </a:rPr>
              <a:t>Showing up the list with distances.</a:t>
            </a:r>
          </a:p>
          <a:p>
            <a:pPr marL="494205" lvl="1" indent="-247102" algn="l">
              <a:lnSpc>
                <a:spcPts val="3158"/>
              </a:lnSpc>
              <a:buAutoNum type="arabicPeriod"/>
            </a:pPr>
            <a:r>
              <a:rPr lang="en-US" sz="2289" spc="224">
                <a:solidFill>
                  <a:srgbClr val="231F20"/>
                </a:solidFill>
                <a:latin typeface="DM Sans"/>
                <a:ea typeface="DM Sans"/>
                <a:cs typeface="DM Sans"/>
                <a:sym typeface="DM Sans"/>
              </a:rPr>
              <a:t>Booking it and picking it up from the centre.</a:t>
            </a:r>
          </a:p>
          <a:p>
            <a:pPr marL="494205" lvl="1" indent="-247102" algn="l">
              <a:lnSpc>
                <a:spcPts val="3158"/>
              </a:lnSpc>
              <a:buAutoNum type="arabicPeriod"/>
            </a:pPr>
            <a:r>
              <a:rPr lang="en-US" sz="2289" spc="224">
                <a:solidFill>
                  <a:srgbClr val="231F20"/>
                </a:solidFill>
                <a:latin typeface="DM Sans"/>
                <a:ea typeface="DM Sans"/>
                <a:cs typeface="DM Sans"/>
                <a:sym typeface="DM Sans"/>
              </a:rPr>
              <a:t>After receiving, taking confirmation from both blood bank and user.</a:t>
            </a:r>
          </a:p>
          <a:p>
            <a:pPr algn="l">
              <a:lnSpc>
                <a:spcPts val="3158"/>
              </a:lnSpc>
            </a:pPr>
            <a:r>
              <a:rPr lang="en-US" sz="2289" spc="224">
                <a:solidFill>
                  <a:srgbClr val="231F20"/>
                </a:solidFill>
                <a:latin typeface="DM Sans"/>
                <a:ea typeface="DM Sans"/>
                <a:cs typeface="DM Sans"/>
                <a:sym typeface="DM Sans"/>
              </a:rPr>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sp>
        <p:nvSpPr>
          <p:cNvPr id="3" name="Freeform 3"/>
          <p:cNvSpPr/>
          <p:nvPr/>
        </p:nvSpPr>
        <p:spPr>
          <a:xfrm rot="887923">
            <a:off x="13475833" y="-8787301"/>
            <a:ext cx="13977230" cy="14342307"/>
          </a:xfrm>
          <a:custGeom>
            <a:avLst/>
            <a:gdLst/>
            <a:ahLst/>
            <a:cxnLst/>
            <a:rect l="l" t="t" r="r" b="b"/>
            <a:pathLst>
              <a:path w="13977230" h="14342307">
                <a:moveTo>
                  <a:pt x="0" y="0"/>
                </a:moveTo>
                <a:lnTo>
                  <a:pt x="13977230" y="0"/>
                </a:lnTo>
                <a:lnTo>
                  <a:pt x="13977230" y="14342307"/>
                </a:lnTo>
                <a:lnTo>
                  <a:pt x="0" y="1434230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rot="887923">
            <a:off x="-5959915" y="4982621"/>
            <a:ext cx="13977230" cy="14342307"/>
          </a:xfrm>
          <a:custGeom>
            <a:avLst/>
            <a:gdLst/>
            <a:ahLst/>
            <a:cxnLst/>
            <a:rect l="l" t="t" r="r" b="b"/>
            <a:pathLst>
              <a:path w="13977230" h="14342307">
                <a:moveTo>
                  <a:pt x="0" y="0"/>
                </a:moveTo>
                <a:lnTo>
                  <a:pt x="13977230" y="0"/>
                </a:lnTo>
                <a:lnTo>
                  <a:pt x="13977230" y="14342307"/>
                </a:lnTo>
                <a:lnTo>
                  <a:pt x="0" y="14342307"/>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5" name="Group 5"/>
          <p:cNvGrpSpPr/>
          <p:nvPr/>
        </p:nvGrpSpPr>
        <p:grpSpPr>
          <a:xfrm>
            <a:off x="4260093" y="4720267"/>
            <a:ext cx="2932415" cy="2065903"/>
            <a:chOff x="0" y="0"/>
            <a:chExt cx="1075555" cy="757735"/>
          </a:xfrm>
        </p:grpSpPr>
        <p:sp>
          <p:nvSpPr>
            <p:cNvPr id="6" name="Freeform 6"/>
            <p:cNvSpPr/>
            <p:nvPr/>
          </p:nvSpPr>
          <p:spPr>
            <a:xfrm>
              <a:off x="0" y="0"/>
              <a:ext cx="1075555" cy="757735"/>
            </a:xfrm>
            <a:custGeom>
              <a:avLst/>
              <a:gdLst/>
              <a:ahLst/>
              <a:cxnLst/>
              <a:rect l="l" t="t" r="r" b="b"/>
              <a:pathLst>
                <a:path w="1075555" h="757735">
                  <a:moveTo>
                    <a:pt x="81844" y="0"/>
                  </a:moveTo>
                  <a:lnTo>
                    <a:pt x="993712" y="0"/>
                  </a:lnTo>
                  <a:cubicBezTo>
                    <a:pt x="1015418" y="0"/>
                    <a:pt x="1036235" y="8623"/>
                    <a:pt x="1051584" y="23971"/>
                  </a:cubicBezTo>
                  <a:cubicBezTo>
                    <a:pt x="1066932" y="39320"/>
                    <a:pt x="1075555" y="60137"/>
                    <a:pt x="1075555" y="81844"/>
                  </a:cubicBezTo>
                  <a:lnTo>
                    <a:pt x="1075555" y="675891"/>
                  </a:lnTo>
                  <a:cubicBezTo>
                    <a:pt x="1075555" y="697597"/>
                    <a:pt x="1066932" y="718415"/>
                    <a:pt x="1051584" y="733763"/>
                  </a:cubicBezTo>
                  <a:cubicBezTo>
                    <a:pt x="1036235" y="749112"/>
                    <a:pt x="1015418" y="757735"/>
                    <a:pt x="993712" y="757735"/>
                  </a:cubicBezTo>
                  <a:lnTo>
                    <a:pt x="81844" y="757735"/>
                  </a:lnTo>
                  <a:cubicBezTo>
                    <a:pt x="36643" y="757735"/>
                    <a:pt x="0" y="721092"/>
                    <a:pt x="0" y="675891"/>
                  </a:cubicBezTo>
                  <a:lnTo>
                    <a:pt x="0" y="81844"/>
                  </a:lnTo>
                  <a:cubicBezTo>
                    <a:pt x="0" y="60137"/>
                    <a:pt x="8623" y="39320"/>
                    <a:pt x="23971" y="23971"/>
                  </a:cubicBezTo>
                  <a:cubicBezTo>
                    <a:pt x="39320" y="8623"/>
                    <a:pt x="60137" y="0"/>
                    <a:pt x="81844" y="0"/>
                  </a:cubicBezTo>
                  <a:close/>
                </a:path>
              </a:pathLst>
            </a:custGeom>
            <a:solidFill>
              <a:srgbClr val="FFFFFF">
                <a:alpha val="98824"/>
              </a:srgbClr>
            </a:solidFill>
          </p:spPr>
        </p:sp>
        <p:sp>
          <p:nvSpPr>
            <p:cNvPr id="7" name="TextBox 7"/>
            <p:cNvSpPr txBox="1"/>
            <p:nvPr/>
          </p:nvSpPr>
          <p:spPr>
            <a:xfrm>
              <a:off x="0" y="-19050"/>
              <a:ext cx="1075555" cy="776785"/>
            </a:xfrm>
            <a:prstGeom prst="rect">
              <a:avLst/>
            </a:prstGeom>
          </p:spPr>
          <p:txBody>
            <a:bodyPr lIns="50800" tIns="50800" rIns="50800" bIns="50800" rtlCol="0" anchor="ctr"/>
            <a:lstStyle/>
            <a:p>
              <a:pPr algn="ctr">
                <a:lnSpc>
                  <a:spcPts val="2859"/>
                </a:lnSpc>
              </a:pPr>
              <a:endParaRPr/>
            </a:p>
          </p:txBody>
        </p:sp>
      </p:grpSp>
      <p:grpSp>
        <p:nvGrpSpPr>
          <p:cNvPr id="8" name="Group 8"/>
          <p:cNvGrpSpPr/>
          <p:nvPr/>
        </p:nvGrpSpPr>
        <p:grpSpPr>
          <a:xfrm>
            <a:off x="4260093" y="6895603"/>
            <a:ext cx="2932415" cy="847111"/>
            <a:chOff x="0" y="0"/>
            <a:chExt cx="1075555" cy="310705"/>
          </a:xfrm>
        </p:grpSpPr>
        <p:sp>
          <p:nvSpPr>
            <p:cNvPr id="9" name="Freeform 9"/>
            <p:cNvSpPr/>
            <p:nvPr/>
          </p:nvSpPr>
          <p:spPr>
            <a:xfrm>
              <a:off x="0" y="0"/>
              <a:ext cx="1075555" cy="310705"/>
            </a:xfrm>
            <a:custGeom>
              <a:avLst/>
              <a:gdLst/>
              <a:ahLst/>
              <a:cxnLst/>
              <a:rect l="l" t="t" r="r" b="b"/>
              <a:pathLst>
                <a:path w="1075555" h="310705">
                  <a:moveTo>
                    <a:pt x="81844" y="0"/>
                  </a:moveTo>
                  <a:lnTo>
                    <a:pt x="993712" y="0"/>
                  </a:lnTo>
                  <a:cubicBezTo>
                    <a:pt x="1015418" y="0"/>
                    <a:pt x="1036235" y="8623"/>
                    <a:pt x="1051584" y="23971"/>
                  </a:cubicBezTo>
                  <a:cubicBezTo>
                    <a:pt x="1066932" y="39320"/>
                    <a:pt x="1075555" y="60137"/>
                    <a:pt x="1075555" y="81844"/>
                  </a:cubicBezTo>
                  <a:lnTo>
                    <a:pt x="1075555" y="228861"/>
                  </a:lnTo>
                  <a:cubicBezTo>
                    <a:pt x="1075555" y="250567"/>
                    <a:pt x="1066932" y="271385"/>
                    <a:pt x="1051584" y="286733"/>
                  </a:cubicBezTo>
                  <a:cubicBezTo>
                    <a:pt x="1036235" y="302082"/>
                    <a:pt x="1015418" y="310705"/>
                    <a:pt x="993712" y="310705"/>
                  </a:cubicBezTo>
                  <a:lnTo>
                    <a:pt x="81844" y="310705"/>
                  </a:lnTo>
                  <a:cubicBezTo>
                    <a:pt x="36643" y="310705"/>
                    <a:pt x="0" y="274062"/>
                    <a:pt x="0" y="228861"/>
                  </a:cubicBezTo>
                  <a:lnTo>
                    <a:pt x="0" y="81844"/>
                  </a:lnTo>
                  <a:cubicBezTo>
                    <a:pt x="0" y="60137"/>
                    <a:pt x="8623" y="39320"/>
                    <a:pt x="23971" y="23971"/>
                  </a:cubicBezTo>
                  <a:cubicBezTo>
                    <a:pt x="39320" y="8623"/>
                    <a:pt x="60137" y="0"/>
                    <a:pt x="81844" y="0"/>
                  </a:cubicBezTo>
                  <a:close/>
                </a:path>
              </a:pathLst>
            </a:custGeom>
            <a:solidFill>
              <a:srgbClr val="FFFFFF">
                <a:alpha val="98824"/>
              </a:srgbClr>
            </a:solidFill>
          </p:spPr>
        </p:sp>
        <p:sp>
          <p:nvSpPr>
            <p:cNvPr id="10" name="TextBox 10"/>
            <p:cNvSpPr txBox="1"/>
            <p:nvPr/>
          </p:nvSpPr>
          <p:spPr>
            <a:xfrm>
              <a:off x="0" y="-19050"/>
              <a:ext cx="1075555" cy="329755"/>
            </a:xfrm>
            <a:prstGeom prst="rect">
              <a:avLst/>
            </a:prstGeom>
          </p:spPr>
          <p:txBody>
            <a:bodyPr lIns="50800" tIns="50800" rIns="50800" bIns="50800" rtlCol="0" anchor="ctr"/>
            <a:lstStyle/>
            <a:p>
              <a:pPr algn="ctr">
                <a:lnSpc>
                  <a:spcPts val="2859"/>
                </a:lnSpc>
              </a:pPr>
              <a:endParaRPr/>
            </a:p>
          </p:txBody>
        </p:sp>
      </p:grpSp>
      <p:grpSp>
        <p:nvGrpSpPr>
          <p:cNvPr id="11" name="Group 11"/>
          <p:cNvGrpSpPr/>
          <p:nvPr/>
        </p:nvGrpSpPr>
        <p:grpSpPr>
          <a:xfrm>
            <a:off x="9070732" y="5281918"/>
            <a:ext cx="2932415" cy="2351362"/>
            <a:chOff x="0" y="0"/>
            <a:chExt cx="1075555" cy="862436"/>
          </a:xfrm>
        </p:grpSpPr>
        <p:sp>
          <p:nvSpPr>
            <p:cNvPr id="12" name="Freeform 12"/>
            <p:cNvSpPr/>
            <p:nvPr/>
          </p:nvSpPr>
          <p:spPr>
            <a:xfrm>
              <a:off x="0" y="0"/>
              <a:ext cx="1075555" cy="862436"/>
            </a:xfrm>
            <a:custGeom>
              <a:avLst/>
              <a:gdLst/>
              <a:ahLst/>
              <a:cxnLst/>
              <a:rect l="l" t="t" r="r" b="b"/>
              <a:pathLst>
                <a:path w="1075555" h="862436">
                  <a:moveTo>
                    <a:pt x="81844" y="0"/>
                  </a:moveTo>
                  <a:lnTo>
                    <a:pt x="993712" y="0"/>
                  </a:lnTo>
                  <a:cubicBezTo>
                    <a:pt x="1015418" y="0"/>
                    <a:pt x="1036235" y="8623"/>
                    <a:pt x="1051584" y="23971"/>
                  </a:cubicBezTo>
                  <a:cubicBezTo>
                    <a:pt x="1066932" y="39320"/>
                    <a:pt x="1075555" y="60137"/>
                    <a:pt x="1075555" y="81844"/>
                  </a:cubicBezTo>
                  <a:lnTo>
                    <a:pt x="1075555" y="780592"/>
                  </a:lnTo>
                  <a:cubicBezTo>
                    <a:pt x="1075555" y="825793"/>
                    <a:pt x="1038913" y="862436"/>
                    <a:pt x="993712" y="862436"/>
                  </a:cubicBezTo>
                  <a:lnTo>
                    <a:pt x="81844" y="862436"/>
                  </a:lnTo>
                  <a:cubicBezTo>
                    <a:pt x="60137" y="862436"/>
                    <a:pt x="39320" y="853813"/>
                    <a:pt x="23971" y="838465"/>
                  </a:cubicBezTo>
                  <a:cubicBezTo>
                    <a:pt x="8623" y="823116"/>
                    <a:pt x="0" y="802299"/>
                    <a:pt x="0" y="780592"/>
                  </a:cubicBezTo>
                  <a:lnTo>
                    <a:pt x="0" y="81844"/>
                  </a:lnTo>
                  <a:cubicBezTo>
                    <a:pt x="0" y="60137"/>
                    <a:pt x="8623" y="39320"/>
                    <a:pt x="23971" y="23971"/>
                  </a:cubicBezTo>
                  <a:cubicBezTo>
                    <a:pt x="39320" y="8623"/>
                    <a:pt x="60137" y="0"/>
                    <a:pt x="81844" y="0"/>
                  </a:cubicBezTo>
                  <a:close/>
                </a:path>
              </a:pathLst>
            </a:custGeom>
            <a:solidFill>
              <a:srgbClr val="FFFFFF">
                <a:alpha val="98824"/>
              </a:srgbClr>
            </a:solidFill>
          </p:spPr>
        </p:sp>
        <p:sp>
          <p:nvSpPr>
            <p:cNvPr id="13" name="TextBox 13"/>
            <p:cNvSpPr txBox="1"/>
            <p:nvPr/>
          </p:nvSpPr>
          <p:spPr>
            <a:xfrm>
              <a:off x="0" y="-19050"/>
              <a:ext cx="1075555" cy="881486"/>
            </a:xfrm>
            <a:prstGeom prst="rect">
              <a:avLst/>
            </a:prstGeom>
          </p:spPr>
          <p:txBody>
            <a:bodyPr lIns="50800" tIns="50800" rIns="50800" bIns="50800" rtlCol="0" anchor="ctr"/>
            <a:lstStyle/>
            <a:p>
              <a:pPr algn="ctr">
                <a:lnSpc>
                  <a:spcPts val="2859"/>
                </a:lnSpc>
              </a:pPr>
              <a:endParaRPr/>
            </a:p>
          </p:txBody>
        </p:sp>
      </p:grpSp>
      <p:grpSp>
        <p:nvGrpSpPr>
          <p:cNvPr id="14" name="Group 14"/>
          <p:cNvGrpSpPr/>
          <p:nvPr/>
        </p:nvGrpSpPr>
        <p:grpSpPr>
          <a:xfrm>
            <a:off x="9070732" y="7742714"/>
            <a:ext cx="2932415" cy="997140"/>
            <a:chOff x="0" y="0"/>
            <a:chExt cx="1075555" cy="365732"/>
          </a:xfrm>
        </p:grpSpPr>
        <p:sp>
          <p:nvSpPr>
            <p:cNvPr id="15" name="Freeform 15"/>
            <p:cNvSpPr/>
            <p:nvPr/>
          </p:nvSpPr>
          <p:spPr>
            <a:xfrm>
              <a:off x="0" y="0"/>
              <a:ext cx="1075555" cy="365732"/>
            </a:xfrm>
            <a:custGeom>
              <a:avLst/>
              <a:gdLst/>
              <a:ahLst/>
              <a:cxnLst/>
              <a:rect l="l" t="t" r="r" b="b"/>
              <a:pathLst>
                <a:path w="1075555" h="365732">
                  <a:moveTo>
                    <a:pt x="81844" y="0"/>
                  </a:moveTo>
                  <a:lnTo>
                    <a:pt x="993712" y="0"/>
                  </a:lnTo>
                  <a:cubicBezTo>
                    <a:pt x="1015418" y="0"/>
                    <a:pt x="1036235" y="8623"/>
                    <a:pt x="1051584" y="23971"/>
                  </a:cubicBezTo>
                  <a:cubicBezTo>
                    <a:pt x="1066932" y="39320"/>
                    <a:pt x="1075555" y="60137"/>
                    <a:pt x="1075555" y="81844"/>
                  </a:cubicBezTo>
                  <a:lnTo>
                    <a:pt x="1075555" y="283889"/>
                  </a:lnTo>
                  <a:cubicBezTo>
                    <a:pt x="1075555" y="329090"/>
                    <a:pt x="1038913" y="365732"/>
                    <a:pt x="993712" y="365732"/>
                  </a:cubicBezTo>
                  <a:lnTo>
                    <a:pt x="81844" y="365732"/>
                  </a:lnTo>
                  <a:cubicBezTo>
                    <a:pt x="60137" y="365732"/>
                    <a:pt x="39320" y="357110"/>
                    <a:pt x="23971" y="341761"/>
                  </a:cubicBezTo>
                  <a:cubicBezTo>
                    <a:pt x="8623" y="326412"/>
                    <a:pt x="0" y="305595"/>
                    <a:pt x="0" y="283889"/>
                  </a:cubicBezTo>
                  <a:lnTo>
                    <a:pt x="0" y="81844"/>
                  </a:lnTo>
                  <a:cubicBezTo>
                    <a:pt x="0" y="60137"/>
                    <a:pt x="8623" y="39320"/>
                    <a:pt x="23971" y="23971"/>
                  </a:cubicBezTo>
                  <a:cubicBezTo>
                    <a:pt x="39320" y="8623"/>
                    <a:pt x="60137" y="0"/>
                    <a:pt x="81844" y="0"/>
                  </a:cubicBezTo>
                  <a:close/>
                </a:path>
              </a:pathLst>
            </a:custGeom>
            <a:solidFill>
              <a:srgbClr val="FFFFFF">
                <a:alpha val="98824"/>
              </a:srgbClr>
            </a:solidFill>
          </p:spPr>
        </p:sp>
        <p:sp>
          <p:nvSpPr>
            <p:cNvPr id="16" name="TextBox 16"/>
            <p:cNvSpPr txBox="1"/>
            <p:nvPr/>
          </p:nvSpPr>
          <p:spPr>
            <a:xfrm>
              <a:off x="0" y="-19050"/>
              <a:ext cx="1075555" cy="384782"/>
            </a:xfrm>
            <a:prstGeom prst="rect">
              <a:avLst/>
            </a:prstGeom>
          </p:spPr>
          <p:txBody>
            <a:bodyPr lIns="50800" tIns="50800" rIns="50800" bIns="50800" rtlCol="0" anchor="ctr"/>
            <a:lstStyle/>
            <a:p>
              <a:pPr algn="ctr">
                <a:lnSpc>
                  <a:spcPts val="2859"/>
                </a:lnSpc>
              </a:pPr>
              <a:endParaRPr/>
            </a:p>
          </p:txBody>
        </p:sp>
      </p:grpSp>
      <p:grpSp>
        <p:nvGrpSpPr>
          <p:cNvPr id="17" name="Group 17"/>
          <p:cNvGrpSpPr/>
          <p:nvPr/>
        </p:nvGrpSpPr>
        <p:grpSpPr>
          <a:xfrm>
            <a:off x="13046312" y="3696538"/>
            <a:ext cx="2932415" cy="2351362"/>
            <a:chOff x="0" y="0"/>
            <a:chExt cx="1075555" cy="862436"/>
          </a:xfrm>
        </p:grpSpPr>
        <p:sp>
          <p:nvSpPr>
            <p:cNvPr id="18" name="Freeform 18"/>
            <p:cNvSpPr/>
            <p:nvPr/>
          </p:nvSpPr>
          <p:spPr>
            <a:xfrm>
              <a:off x="0" y="0"/>
              <a:ext cx="1075555" cy="862436"/>
            </a:xfrm>
            <a:custGeom>
              <a:avLst/>
              <a:gdLst/>
              <a:ahLst/>
              <a:cxnLst/>
              <a:rect l="l" t="t" r="r" b="b"/>
              <a:pathLst>
                <a:path w="1075555" h="862436">
                  <a:moveTo>
                    <a:pt x="81844" y="0"/>
                  </a:moveTo>
                  <a:lnTo>
                    <a:pt x="993712" y="0"/>
                  </a:lnTo>
                  <a:cubicBezTo>
                    <a:pt x="1015418" y="0"/>
                    <a:pt x="1036235" y="8623"/>
                    <a:pt x="1051584" y="23971"/>
                  </a:cubicBezTo>
                  <a:cubicBezTo>
                    <a:pt x="1066932" y="39320"/>
                    <a:pt x="1075555" y="60137"/>
                    <a:pt x="1075555" y="81844"/>
                  </a:cubicBezTo>
                  <a:lnTo>
                    <a:pt x="1075555" y="780592"/>
                  </a:lnTo>
                  <a:cubicBezTo>
                    <a:pt x="1075555" y="825793"/>
                    <a:pt x="1038913" y="862436"/>
                    <a:pt x="993712" y="862436"/>
                  </a:cubicBezTo>
                  <a:lnTo>
                    <a:pt x="81844" y="862436"/>
                  </a:lnTo>
                  <a:cubicBezTo>
                    <a:pt x="60137" y="862436"/>
                    <a:pt x="39320" y="853813"/>
                    <a:pt x="23971" y="838465"/>
                  </a:cubicBezTo>
                  <a:cubicBezTo>
                    <a:pt x="8623" y="823116"/>
                    <a:pt x="0" y="802299"/>
                    <a:pt x="0" y="780592"/>
                  </a:cubicBezTo>
                  <a:lnTo>
                    <a:pt x="0" y="81844"/>
                  </a:lnTo>
                  <a:cubicBezTo>
                    <a:pt x="0" y="60137"/>
                    <a:pt x="8623" y="39320"/>
                    <a:pt x="23971" y="23971"/>
                  </a:cubicBezTo>
                  <a:cubicBezTo>
                    <a:pt x="39320" y="8623"/>
                    <a:pt x="60137" y="0"/>
                    <a:pt x="81844" y="0"/>
                  </a:cubicBezTo>
                  <a:close/>
                </a:path>
              </a:pathLst>
            </a:custGeom>
            <a:solidFill>
              <a:srgbClr val="FFFFFF">
                <a:alpha val="98824"/>
              </a:srgbClr>
            </a:solidFill>
          </p:spPr>
        </p:sp>
        <p:sp>
          <p:nvSpPr>
            <p:cNvPr id="19" name="TextBox 19"/>
            <p:cNvSpPr txBox="1"/>
            <p:nvPr/>
          </p:nvSpPr>
          <p:spPr>
            <a:xfrm>
              <a:off x="0" y="-19050"/>
              <a:ext cx="1075555" cy="881486"/>
            </a:xfrm>
            <a:prstGeom prst="rect">
              <a:avLst/>
            </a:prstGeom>
          </p:spPr>
          <p:txBody>
            <a:bodyPr lIns="50800" tIns="50800" rIns="50800" bIns="50800" rtlCol="0" anchor="ctr"/>
            <a:lstStyle/>
            <a:p>
              <a:pPr algn="ctr">
                <a:lnSpc>
                  <a:spcPts val="2859"/>
                </a:lnSpc>
              </a:pPr>
              <a:endParaRPr/>
            </a:p>
          </p:txBody>
        </p:sp>
      </p:grpSp>
      <p:grpSp>
        <p:nvGrpSpPr>
          <p:cNvPr id="20" name="Group 20"/>
          <p:cNvGrpSpPr/>
          <p:nvPr/>
        </p:nvGrpSpPr>
        <p:grpSpPr>
          <a:xfrm>
            <a:off x="13046312" y="6157334"/>
            <a:ext cx="2932415" cy="955637"/>
            <a:chOff x="0" y="0"/>
            <a:chExt cx="1075555" cy="350510"/>
          </a:xfrm>
        </p:grpSpPr>
        <p:sp>
          <p:nvSpPr>
            <p:cNvPr id="21" name="Freeform 21"/>
            <p:cNvSpPr/>
            <p:nvPr/>
          </p:nvSpPr>
          <p:spPr>
            <a:xfrm>
              <a:off x="0" y="0"/>
              <a:ext cx="1075555" cy="350510"/>
            </a:xfrm>
            <a:custGeom>
              <a:avLst/>
              <a:gdLst/>
              <a:ahLst/>
              <a:cxnLst/>
              <a:rect l="l" t="t" r="r" b="b"/>
              <a:pathLst>
                <a:path w="1075555" h="350510">
                  <a:moveTo>
                    <a:pt x="81844" y="0"/>
                  </a:moveTo>
                  <a:lnTo>
                    <a:pt x="993712" y="0"/>
                  </a:lnTo>
                  <a:cubicBezTo>
                    <a:pt x="1015418" y="0"/>
                    <a:pt x="1036235" y="8623"/>
                    <a:pt x="1051584" y="23971"/>
                  </a:cubicBezTo>
                  <a:cubicBezTo>
                    <a:pt x="1066932" y="39320"/>
                    <a:pt x="1075555" y="60137"/>
                    <a:pt x="1075555" y="81844"/>
                  </a:cubicBezTo>
                  <a:lnTo>
                    <a:pt x="1075555" y="268666"/>
                  </a:lnTo>
                  <a:cubicBezTo>
                    <a:pt x="1075555" y="313867"/>
                    <a:pt x="1038913" y="350510"/>
                    <a:pt x="993712" y="350510"/>
                  </a:cubicBezTo>
                  <a:lnTo>
                    <a:pt x="81844" y="350510"/>
                  </a:lnTo>
                  <a:cubicBezTo>
                    <a:pt x="60137" y="350510"/>
                    <a:pt x="39320" y="341887"/>
                    <a:pt x="23971" y="326538"/>
                  </a:cubicBezTo>
                  <a:cubicBezTo>
                    <a:pt x="8623" y="311190"/>
                    <a:pt x="0" y="290372"/>
                    <a:pt x="0" y="268666"/>
                  </a:cubicBezTo>
                  <a:lnTo>
                    <a:pt x="0" y="81844"/>
                  </a:lnTo>
                  <a:cubicBezTo>
                    <a:pt x="0" y="60137"/>
                    <a:pt x="8623" y="39320"/>
                    <a:pt x="23971" y="23971"/>
                  </a:cubicBezTo>
                  <a:cubicBezTo>
                    <a:pt x="39320" y="8623"/>
                    <a:pt x="60137" y="0"/>
                    <a:pt x="81844" y="0"/>
                  </a:cubicBezTo>
                  <a:close/>
                </a:path>
              </a:pathLst>
            </a:custGeom>
            <a:solidFill>
              <a:srgbClr val="FFFFFF">
                <a:alpha val="98824"/>
              </a:srgbClr>
            </a:solidFill>
          </p:spPr>
        </p:sp>
        <p:sp>
          <p:nvSpPr>
            <p:cNvPr id="22" name="TextBox 22"/>
            <p:cNvSpPr txBox="1"/>
            <p:nvPr/>
          </p:nvSpPr>
          <p:spPr>
            <a:xfrm>
              <a:off x="0" y="-19050"/>
              <a:ext cx="1075555" cy="369560"/>
            </a:xfrm>
            <a:prstGeom prst="rect">
              <a:avLst/>
            </a:prstGeom>
          </p:spPr>
          <p:txBody>
            <a:bodyPr lIns="50800" tIns="50800" rIns="50800" bIns="50800" rtlCol="0" anchor="ctr"/>
            <a:lstStyle/>
            <a:p>
              <a:pPr algn="ctr">
                <a:lnSpc>
                  <a:spcPts val="2859"/>
                </a:lnSpc>
              </a:pPr>
              <a:endParaRPr/>
            </a:p>
          </p:txBody>
        </p:sp>
      </p:grpSp>
      <p:sp>
        <p:nvSpPr>
          <p:cNvPr id="23" name="Freeform 23"/>
          <p:cNvSpPr/>
          <p:nvPr/>
        </p:nvSpPr>
        <p:spPr>
          <a:xfrm rot="-1885381">
            <a:off x="12158125" y="7633280"/>
            <a:ext cx="1776375" cy="501826"/>
          </a:xfrm>
          <a:custGeom>
            <a:avLst/>
            <a:gdLst/>
            <a:ahLst/>
            <a:cxnLst/>
            <a:rect l="l" t="t" r="r" b="b"/>
            <a:pathLst>
              <a:path w="1776375" h="501826">
                <a:moveTo>
                  <a:pt x="0" y="0"/>
                </a:moveTo>
                <a:lnTo>
                  <a:pt x="1776374" y="0"/>
                </a:lnTo>
                <a:lnTo>
                  <a:pt x="1776374" y="501826"/>
                </a:lnTo>
                <a:lnTo>
                  <a:pt x="0" y="50182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24" name="TextBox 24"/>
          <p:cNvSpPr txBox="1"/>
          <p:nvPr/>
        </p:nvSpPr>
        <p:spPr>
          <a:xfrm>
            <a:off x="1538888" y="1195362"/>
            <a:ext cx="8904094" cy="1594138"/>
          </a:xfrm>
          <a:prstGeom prst="rect">
            <a:avLst/>
          </a:prstGeom>
        </p:spPr>
        <p:txBody>
          <a:bodyPr lIns="0" tIns="0" rIns="0" bIns="0" rtlCol="0" anchor="t">
            <a:spAutoFit/>
          </a:bodyPr>
          <a:lstStyle/>
          <a:p>
            <a:pPr marL="0" lvl="0" indent="0" algn="ctr">
              <a:lnSpc>
                <a:spcPts val="13015"/>
              </a:lnSpc>
              <a:spcBef>
                <a:spcPct val="0"/>
              </a:spcBef>
            </a:pPr>
            <a:r>
              <a:rPr lang="en-US" sz="9431" b="1" spc="924">
                <a:solidFill>
                  <a:srgbClr val="231F20"/>
                </a:solidFill>
                <a:latin typeface="Oswald Bold"/>
                <a:ea typeface="Oswald Bold"/>
                <a:cs typeface="Oswald Bold"/>
                <a:sym typeface="Oswald Bold"/>
              </a:rPr>
              <a:t>HOW TO START</a:t>
            </a:r>
          </a:p>
        </p:txBody>
      </p:sp>
      <p:sp>
        <p:nvSpPr>
          <p:cNvPr id="25" name="TextBox 25"/>
          <p:cNvSpPr txBox="1"/>
          <p:nvPr/>
        </p:nvSpPr>
        <p:spPr>
          <a:xfrm>
            <a:off x="4448009" y="7065345"/>
            <a:ext cx="2556583" cy="458848"/>
          </a:xfrm>
          <a:prstGeom prst="rect">
            <a:avLst/>
          </a:prstGeom>
        </p:spPr>
        <p:txBody>
          <a:bodyPr lIns="0" tIns="0" rIns="0" bIns="0" rtlCol="0" anchor="t">
            <a:spAutoFit/>
          </a:bodyPr>
          <a:lstStyle/>
          <a:p>
            <a:pPr marL="0" lvl="0" indent="0" algn="ctr">
              <a:lnSpc>
                <a:spcPts val="3737"/>
              </a:lnSpc>
              <a:spcBef>
                <a:spcPct val="0"/>
              </a:spcBef>
            </a:pPr>
            <a:r>
              <a:rPr lang="en-US" sz="2708" spc="265">
                <a:solidFill>
                  <a:srgbClr val="231F20"/>
                </a:solidFill>
                <a:latin typeface="Oswald"/>
                <a:ea typeface="Oswald"/>
                <a:cs typeface="Oswald"/>
                <a:sym typeface="Oswald"/>
              </a:rPr>
              <a:t>SIGN UP</a:t>
            </a:r>
          </a:p>
        </p:txBody>
      </p:sp>
      <p:sp>
        <p:nvSpPr>
          <p:cNvPr id="26" name="TextBox 26"/>
          <p:cNvSpPr txBox="1"/>
          <p:nvPr/>
        </p:nvSpPr>
        <p:spPr>
          <a:xfrm>
            <a:off x="4459106" y="4862052"/>
            <a:ext cx="2534389" cy="1741142"/>
          </a:xfrm>
          <a:prstGeom prst="rect">
            <a:avLst/>
          </a:prstGeom>
        </p:spPr>
        <p:txBody>
          <a:bodyPr lIns="0" tIns="0" rIns="0" bIns="0" rtlCol="0" anchor="t">
            <a:spAutoFit/>
          </a:bodyPr>
          <a:lstStyle/>
          <a:p>
            <a:pPr algn="ctr">
              <a:lnSpc>
                <a:spcPts val="2338"/>
              </a:lnSpc>
            </a:pPr>
            <a:r>
              <a:rPr lang="en-US" sz="1670">
                <a:solidFill>
                  <a:srgbClr val="100F0D"/>
                </a:solidFill>
                <a:latin typeface="Montserrat Light"/>
                <a:ea typeface="Montserrat Light"/>
                <a:cs typeface="Montserrat Light"/>
                <a:sym typeface="Montserrat Light"/>
              </a:rPr>
              <a:t>Register yourself using personal email address,</a:t>
            </a:r>
          </a:p>
          <a:p>
            <a:pPr algn="ctr">
              <a:lnSpc>
                <a:spcPts val="2338"/>
              </a:lnSpc>
            </a:pPr>
            <a:r>
              <a:rPr lang="en-US" sz="1670">
                <a:solidFill>
                  <a:srgbClr val="100F0D"/>
                </a:solidFill>
                <a:latin typeface="Montserrat Light"/>
                <a:ea typeface="Montserrat Light"/>
                <a:cs typeface="Montserrat Light"/>
                <a:sym typeface="Montserrat Light"/>
              </a:rPr>
              <a:t>Every person to register with different mail ID.</a:t>
            </a:r>
          </a:p>
          <a:p>
            <a:pPr algn="ctr">
              <a:lnSpc>
                <a:spcPts val="2338"/>
              </a:lnSpc>
            </a:pPr>
            <a:r>
              <a:rPr lang="en-US" sz="1670">
                <a:solidFill>
                  <a:srgbClr val="100F0D"/>
                </a:solidFill>
                <a:latin typeface="Montserrat Light"/>
                <a:ea typeface="Montserrat Light"/>
                <a:cs typeface="Montserrat Light"/>
                <a:sym typeface="Montserrat Light"/>
              </a:rPr>
              <a:t>-to get confirmation mails and updates.</a:t>
            </a:r>
          </a:p>
        </p:txBody>
      </p:sp>
      <p:sp>
        <p:nvSpPr>
          <p:cNvPr id="27" name="TextBox 27"/>
          <p:cNvSpPr txBox="1"/>
          <p:nvPr/>
        </p:nvSpPr>
        <p:spPr>
          <a:xfrm>
            <a:off x="9164690" y="7751482"/>
            <a:ext cx="2556583" cy="931979"/>
          </a:xfrm>
          <a:prstGeom prst="rect">
            <a:avLst/>
          </a:prstGeom>
        </p:spPr>
        <p:txBody>
          <a:bodyPr lIns="0" tIns="0" rIns="0" bIns="0" rtlCol="0" anchor="t">
            <a:spAutoFit/>
          </a:bodyPr>
          <a:lstStyle/>
          <a:p>
            <a:pPr marL="0" lvl="0" indent="0" algn="ctr">
              <a:lnSpc>
                <a:spcPts val="3737"/>
              </a:lnSpc>
              <a:spcBef>
                <a:spcPct val="0"/>
              </a:spcBef>
            </a:pPr>
            <a:r>
              <a:rPr lang="en-US" sz="2708" spc="265">
                <a:solidFill>
                  <a:srgbClr val="231F20"/>
                </a:solidFill>
                <a:latin typeface="Oswald"/>
                <a:ea typeface="Oswald"/>
                <a:cs typeface="Oswald"/>
                <a:sym typeface="Oswald"/>
              </a:rPr>
              <a:t>HEALTH CHECKUP</a:t>
            </a:r>
          </a:p>
        </p:txBody>
      </p:sp>
      <p:sp>
        <p:nvSpPr>
          <p:cNvPr id="28" name="TextBox 28"/>
          <p:cNvSpPr txBox="1"/>
          <p:nvPr/>
        </p:nvSpPr>
        <p:spPr>
          <a:xfrm>
            <a:off x="9280843" y="5450456"/>
            <a:ext cx="2534389" cy="2032053"/>
          </a:xfrm>
          <a:prstGeom prst="rect">
            <a:avLst/>
          </a:prstGeom>
        </p:spPr>
        <p:txBody>
          <a:bodyPr lIns="0" tIns="0" rIns="0" bIns="0" rtlCol="0" anchor="t">
            <a:spAutoFit/>
          </a:bodyPr>
          <a:lstStyle/>
          <a:p>
            <a:pPr algn="ctr">
              <a:lnSpc>
                <a:spcPts val="2338"/>
              </a:lnSpc>
            </a:pPr>
            <a:r>
              <a:rPr lang="en-US" sz="1670">
                <a:solidFill>
                  <a:srgbClr val="100F0D"/>
                </a:solidFill>
                <a:latin typeface="Montserrat Light"/>
                <a:ea typeface="Montserrat Light"/>
                <a:cs typeface="Montserrat Light"/>
                <a:sym typeface="Montserrat Light"/>
              </a:rPr>
              <a:t>Physical Checkup.</a:t>
            </a:r>
          </a:p>
          <a:p>
            <a:pPr algn="ctr">
              <a:lnSpc>
                <a:spcPts val="2338"/>
              </a:lnSpc>
            </a:pPr>
            <a:r>
              <a:rPr lang="en-US" sz="1670">
                <a:solidFill>
                  <a:srgbClr val="100F0D"/>
                </a:solidFill>
                <a:latin typeface="Montserrat Light"/>
                <a:ea typeface="Montserrat Light"/>
                <a:cs typeface="Montserrat Light"/>
                <a:sym typeface="Montserrat Light"/>
              </a:rPr>
              <a:t>And also for the eligibility for donating blood.</a:t>
            </a:r>
          </a:p>
          <a:p>
            <a:pPr algn="ctr">
              <a:lnSpc>
                <a:spcPts val="2338"/>
              </a:lnSpc>
            </a:pPr>
            <a:r>
              <a:rPr lang="en-US" sz="1670">
                <a:solidFill>
                  <a:srgbClr val="100F0D"/>
                </a:solidFill>
                <a:latin typeface="Montserrat Light"/>
                <a:ea typeface="Montserrat Light"/>
                <a:cs typeface="Montserrat Light"/>
                <a:sym typeface="Montserrat Light"/>
              </a:rPr>
              <a:t>As it is very important for the donor to be physically fit.</a:t>
            </a:r>
          </a:p>
        </p:txBody>
      </p:sp>
      <p:sp>
        <p:nvSpPr>
          <p:cNvPr id="29" name="TextBox 29"/>
          <p:cNvSpPr txBox="1"/>
          <p:nvPr/>
        </p:nvSpPr>
        <p:spPr>
          <a:xfrm>
            <a:off x="13234228" y="6145596"/>
            <a:ext cx="2556583" cy="931979"/>
          </a:xfrm>
          <a:prstGeom prst="rect">
            <a:avLst/>
          </a:prstGeom>
        </p:spPr>
        <p:txBody>
          <a:bodyPr lIns="0" tIns="0" rIns="0" bIns="0" rtlCol="0" anchor="t">
            <a:spAutoFit/>
          </a:bodyPr>
          <a:lstStyle/>
          <a:p>
            <a:pPr algn="ctr">
              <a:lnSpc>
                <a:spcPts val="3737"/>
              </a:lnSpc>
            </a:pPr>
            <a:r>
              <a:rPr lang="en-US" sz="2708" spc="265">
                <a:solidFill>
                  <a:srgbClr val="231F20"/>
                </a:solidFill>
                <a:latin typeface="Oswald"/>
                <a:ea typeface="Oswald"/>
                <a:cs typeface="Oswald"/>
                <a:sym typeface="Oswald"/>
              </a:rPr>
              <a:t>DONATION/</a:t>
            </a:r>
          </a:p>
          <a:p>
            <a:pPr marL="0" lvl="0" indent="0" algn="ctr">
              <a:lnSpc>
                <a:spcPts val="3737"/>
              </a:lnSpc>
              <a:spcBef>
                <a:spcPct val="0"/>
              </a:spcBef>
            </a:pPr>
            <a:r>
              <a:rPr lang="en-US" sz="2708" spc="265">
                <a:solidFill>
                  <a:srgbClr val="231F20"/>
                </a:solidFill>
                <a:latin typeface="Oswald"/>
                <a:ea typeface="Oswald"/>
                <a:cs typeface="Oswald"/>
                <a:sym typeface="Oswald"/>
              </a:rPr>
              <a:t>WITHDRAWAL</a:t>
            </a:r>
          </a:p>
        </p:txBody>
      </p:sp>
      <p:sp>
        <p:nvSpPr>
          <p:cNvPr id="30" name="TextBox 30"/>
          <p:cNvSpPr txBox="1"/>
          <p:nvPr/>
        </p:nvSpPr>
        <p:spPr>
          <a:xfrm>
            <a:off x="13256422" y="3865075"/>
            <a:ext cx="2534389" cy="2032053"/>
          </a:xfrm>
          <a:prstGeom prst="rect">
            <a:avLst/>
          </a:prstGeom>
        </p:spPr>
        <p:txBody>
          <a:bodyPr lIns="0" tIns="0" rIns="0" bIns="0" rtlCol="0" anchor="t">
            <a:spAutoFit/>
          </a:bodyPr>
          <a:lstStyle/>
          <a:p>
            <a:pPr algn="ctr">
              <a:lnSpc>
                <a:spcPts val="2338"/>
              </a:lnSpc>
            </a:pPr>
            <a:r>
              <a:rPr lang="en-US" sz="1670">
                <a:solidFill>
                  <a:srgbClr val="100F0D"/>
                </a:solidFill>
                <a:latin typeface="Montserrat Light"/>
                <a:ea typeface="Montserrat Light"/>
                <a:cs typeface="Montserrat Light"/>
                <a:sym typeface="Montserrat Light"/>
              </a:rPr>
              <a:t>Donate blood to the nearest blood donation centre,</a:t>
            </a:r>
          </a:p>
          <a:p>
            <a:pPr algn="ctr">
              <a:lnSpc>
                <a:spcPts val="2338"/>
              </a:lnSpc>
            </a:pPr>
            <a:r>
              <a:rPr lang="en-US" sz="1670">
                <a:solidFill>
                  <a:srgbClr val="100F0D"/>
                </a:solidFill>
                <a:latin typeface="Montserrat Light"/>
                <a:ea typeface="Montserrat Light"/>
                <a:cs typeface="Montserrat Light"/>
                <a:sym typeface="Montserrat Light"/>
              </a:rPr>
              <a:t>Withdrawal of blood after finding the desired blood if available in the centres.</a:t>
            </a:r>
          </a:p>
        </p:txBody>
      </p:sp>
      <p:sp>
        <p:nvSpPr>
          <p:cNvPr id="31" name="Freeform 31"/>
          <p:cNvSpPr/>
          <p:nvPr/>
        </p:nvSpPr>
        <p:spPr>
          <a:xfrm rot="-8970905" flipH="1">
            <a:off x="7337391" y="7248542"/>
            <a:ext cx="1776375" cy="501826"/>
          </a:xfrm>
          <a:custGeom>
            <a:avLst/>
            <a:gdLst/>
            <a:ahLst/>
            <a:cxnLst/>
            <a:rect l="l" t="t" r="r" b="b"/>
            <a:pathLst>
              <a:path w="1776375" h="501826">
                <a:moveTo>
                  <a:pt x="1776375" y="0"/>
                </a:moveTo>
                <a:lnTo>
                  <a:pt x="0" y="0"/>
                </a:lnTo>
                <a:lnTo>
                  <a:pt x="0" y="501826"/>
                </a:lnTo>
                <a:lnTo>
                  <a:pt x="1776375" y="501826"/>
                </a:lnTo>
                <a:lnTo>
                  <a:pt x="1776375" y="0"/>
                </a:lnTo>
                <a:close/>
              </a:path>
            </a:pathLst>
          </a:custGeom>
          <a:blipFill>
            <a:blip>
              <a:extLst>
                <a:ext uri="{96DAC541-7B7A-43D3-8B79-37D633B846F1}">
                  <asvg:svgBlip xmlns:asvg="http://schemas.microsoft.com/office/drawing/2016/SVG/main" r:embed="rId4"/>
                </a:ext>
              </a:extLst>
            </a:blip>
            <a:stretch>
              <a:fillRect/>
            </a:stretch>
          </a:blipFill>
        </p:spPr>
      </p:sp>
      <p:sp>
        <p:nvSpPr>
          <p:cNvPr id="32" name="TextBox 32"/>
          <p:cNvSpPr txBox="1"/>
          <p:nvPr/>
        </p:nvSpPr>
        <p:spPr>
          <a:xfrm>
            <a:off x="1836286" y="2844075"/>
            <a:ext cx="8187907" cy="373093"/>
          </a:xfrm>
          <a:prstGeom prst="rect">
            <a:avLst/>
          </a:prstGeom>
        </p:spPr>
        <p:txBody>
          <a:bodyPr lIns="0" tIns="0" rIns="0" bIns="0" rtlCol="0" anchor="t">
            <a:spAutoFit/>
          </a:bodyPr>
          <a:lstStyle/>
          <a:p>
            <a:pPr algn="l">
              <a:lnSpc>
                <a:spcPts val="3060"/>
              </a:lnSpc>
            </a:pPr>
            <a:r>
              <a:rPr lang="en-US" sz="2186">
                <a:solidFill>
                  <a:srgbClr val="100F0D"/>
                </a:solidFill>
                <a:latin typeface="Montserrat Light"/>
                <a:ea typeface="Montserrat Light"/>
                <a:cs typeface="Montserrat Light"/>
                <a:sym typeface="Montserrat Light"/>
              </a:rPr>
              <a:t>Follow the steps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Freeform 2"/>
          <p:cNvSpPr/>
          <p:nvPr/>
        </p:nvSpPr>
        <p:spPr>
          <a:xfrm>
            <a:off x="-8682853" y="-10738524"/>
            <a:ext cx="15841853" cy="16255633"/>
          </a:xfrm>
          <a:custGeom>
            <a:avLst/>
            <a:gdLst/>
            <a:ahLst/>
            <a:cxnLst/>
            <a:rect l="l" t="t" r="r" b="b"/>
            <a:pathLst>
              <a:path w="15841853" h="16255633">
                <a:moveTo>
                  <a:pt x="0" y="0"/>
                </a:moveTo>
                <a:lnTo>
                  <a:pt x="15841853" y="0"/>
                </a:lnTo>
                <a:lnTo>
                  <a:pt x="15841853" y="16255632"/>
                </a:lnTo>
                <a:lnTo>
                  <a:pt x="0" y="1625563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6186133" y="343764"/>
            <a:ext cx="5125292" cy="1702517"/>
          </a:xfrm>
          <a:prstGeom prst="rect">
            <a:avLst/>
          </a:prstGeom>
        </p:spPr>
        <p:txBody>
          <a:bodyPr lIns="0" tIns="0" rIns="0" bIns="0" rtlCol="0" anchor="t">
            <a:spAutoFit/>
          </a:bodyPr>
          <a:lstStyle/>
          <a:p>
            <a:pPr algn="l">
              <a:lnSpc>
                <a:spcPts val="13948"/>
              </a:lnSpc>
            </a:pPr>
            <a:r>
              <a:rPr lang="en-US" sz="10107" b="1" spc="990">
                <a:solidFill>
                  <a:srgbClr val="FFFFFF"/>
                </a:solidFill>
                <a:latin typeface="Oswald Bold"/>
                <a:ea typeface="Oswald Bold"/>
                <a:cs typeface="Oswald Bold"/>
                <a:sym typeface="Oswald Bold"/>
              </a:rPr>
              <a:t>DOMAIN</a:t>
            </a:r>
          </a:p>
        </p:txBody>
      </p:sp>
      <p:sp>
        <p:nvSpPr>
          <p:cNvPr id="4" name="Freeform 4"/>
          <p:cNvSpPr/>
          <p:nvPr/>
        </p:nvSpPr>
        <p:spPr>
          <a:xfrm>
            <a:off x="15481489" y="-3882697"/>
            <a:ext cx="15841853" cy="16255633"/>
          </a:xfrm>
          <a:custGeom>
            <a:avLst/>
            <a:gdLst/>
            <a:ahLst/>
            <a:cxnLst/>
            <a:rect l="l" t="t" r="r" b="b"/>
            <a:pathLst>
              <a:path w="15841853" h="16255633">
                <a:moveTo>
                  <a:pt x="0" y="0"/>
                </a:moveTo>
                <a:lnTo>
                  <a:pt x="15841853" y="0"/>
                </a:lnTo>
                <a:lnTo>
                  <a:pt x="15841853" y="16255632"/>
                </a:lnTo>
                <a:lnTo>
                  <a:pt x="0" y="1625563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TextBox 5"/>
          <p:cNvSpPr txBox="1"/>
          <p:nvPr/>
        </p:nvSpPr>
        <p:spPr>
          <a:xfrm>
            <a:off x="1851955" y="2519299"/>
            <a:ext cx="14584090" cy="7570207"/>
          </a:xfrm>
          <a:prstGeom prst="rect">
            <a:avLst/>
          </a:prstGeom>
        </p:spPr>
        <p:txBody>
          <a:bodyPr lIns="0" tIns="0" rIns="0" bIns="0" rtlCol="0" anchor="t">
            <a:spAutoFit/>
          </a:bodyPr>
          <a:lstStyle/>
          <a:p>
            <a:pPr marL="520677" lvl="1" indent="-260339" algn="l">
              <a:lnSpc>
                <a:spcPts val="3328"/>
              </a:lnSpc>
              <a:buFont typeface="Arial"/>
              <a:buChar char="•"/>
            </a:pPr>
            <a:r>
              <a:rPr lang="en-US" sz="2411" spc="236">
                <a:solidFill>
                  <a:srgbClr val="F5FFF5"/>
                </a:solidFill>
                <a:latin typeface="DM Sans"/>
                <a:ea typeface="DM Sans"/>
                <a:cs typeface="DM Sans"/>
                <a:sym typeface="DM Sans"/>
              </a:rPr>
              <a:t>User Authentication &amp; Data Security (Backend Development):</a:t>
            </a:r>
          </a:p>
          <a:p>
            <a:pPr algn="l">
              <a:lnSpc>
                <a:spcPts val="3328"/>
              </a:lnSpc>
            </a:pPr>
            <a:r>
              <a:rPr lang="en-US" sz="2411" spc="236">
                <a:solidFill>
                  <a:srgbClr val="F5FFF5"/>
                </a:solidFill>
                <a:latin typeface="DM Sans"/>
                <a:ea typeface="DM Sans"/>
                <a:cs typeface="DM Sans"/>
                <a:sym typeface="DM Sans"/>
              </a:rPr>
              <a:t> User Management System: </a:t>
            </a:r>
          </a:p>
          <a:p>
            <a:pPr algn="l">
              <a:lnSpc>
                <a:spcPts val="3328"/>
              </a:lnSpc>
            </a:pPr>
            <a:r>
              <a:rPr lang="en-US" sz="2411" spc="236">
                <a:solidFill>
                  <a:srgbClr val="F5FFF5"/>
                </a:solidFill>
                <a:latin typeface="DM Sans"/>
                <a:ea typeface="DM Sans"/>
                <a:cs typeface="DM Sans"/>
                <a:sym typeface="DM Sans"/>
              </a:rPr>
              <a:t> Implement user authentication and authorization to securely manage users</a:t>
            </a:r>
          </a:p>
          <a:p>
            <a:pPr algn="l">
              <a:lnSpc>
                <a:spcPts val="3328"/>
              </a:lnSpc>
            </a:pPr>
            <a:r>
              <a:rPr lang="en-US" sz="2411" spc="236">
                <a:solidFill>
                  <a:srgbClr val="F5FFF5"/>
                </a:solidFill>
                <a:latin typeface="DM Sans"/>
                <a:ea typeface="DM Sans"/>
                <a:cs typeface="DM Sans"/>
                <a:sym typeface="DM Sans"/>
              </a:rPr>
              <a:t> personal data (login, registration, password recovery).</a:t>
            </a:r>
          </a:p>
          <a:p>
            <a:pPr algn="l">
              <a:lnSpc>
                <a:spcPts val="3328"/>
              </a:lnSpc>
            </a:pPr>
            <a:endParaRPr lang="en-US" sz="2411" spc="236">
              <a:solidFill>
                <a:srgbClr val="F5FFF5"/>
              </a:solidFill>
              <a:latin typeface="DM Sans"/>
              <a:ea typeface="DM Sans"/>
              <a:cs typeface="DM Sans"/>
              <a:sym typeface="DM Sans"/>
            </a:endParaRPr>
          </a:p>
          <a:p>
            <a:pPr marL="520677" lvl="1" indent="-260339" algn="l">
              <a:lnSpc>
                <a:spcPts val="3328"/>
              </a:lnSpc>
              <a:buFont typeface="Arial"/>
              <a:buChar char="•"/>
            </a:pPr>
            <a:r>
              <a:rPr lang="en-US" sz="2411" spc="236">
                <a:solidFill>
                  <a:srgbClr val="F5FFF5"/>
                </a:solidFill>
                <a:latin typeface="DM Sans"/>
                <a:ea typeface="DM Sans"/>
                <a:cs typeface="DM Sans"/>
                <a:sym typeface="DM Sans"/>
              </a:rPr>
              <a:t>Booking System for Blood Donation (Full-stack Development):</a:t>
            </a:r>
          </a:p>
          <a:p>
            <a:pPr algn="l">
              <a:lnSpc>
                <a:spcPts val="3328"/>
              </a:lnSpc>
            </a:pPr>
            <a:r>
              <a:rPr lang="en-US" sz="2411" spc="236">
                <a:solidFill>
                  <a:srgbClr val="F5FFF5"/>
                </a:solidFill>
                <a:latin typeface="DM Sans"/>
                <a:ea typeface="DM Sans"/>
                <a:cs typeface="DM Sans"/>
                <a:sym typeface="DM Sans"/>
              </a:rPr>
              <a:t> Slot Booking System-Keep track of availability at centers, handle bookings</a:t>
            </a:r>
          </a:p>
          <a:p>
            <a:pPr algn="l">
              <a:lnSpc>
                <a:spcPts val="3328"/>
              </a:lnSpc>
            </a:pPr>
            <a:r>
              <a:rPr lang="en-US" sz="2411" spc="236">
                <a:solidFill>
                  <a:srgbClr val="F5FFF5"/>
                </a:solidFill>
                <a:latin typeface="DM Sans"/>
                <a:ea typeface="DM Sans"/>
                <a:cs typeface="DM Sans"/>
                <a:sym typeface="DM Sans"/>
              </a:rPr>
              <a:t> and update schedules dynamically.</a:t>
            </a:r>
          </a:p>
          <a:p>
            <a:pPr algn="l">
              <a:lnSpc>
                <a:spcPts val="3328"/>
              </a:lnSpc>
            </a:pPr>
            <a:endParaRPr lang="en-US" sz="2411" spc="236">
              <a:solidFill>
                <a:srgbClr val="F5FFF5"/>
              </a:solidFill>
              <a:latin typeface="DM Sans"/>
              <a:ea typeface="DM Sans"/>
              <a:cs typeface="DM Sans"/>
              <a:sym typeface="DM Sans"/>
            </a:endParaRPr>
          </a:p>
          <a:p>
            <a:pPr marL="520677" lvl="1" indent="-260339" algn="l">
              <a:lnSpc>
                <a:spcPts val="3328"/>
              </a:lnSpc>
              <a:buFont typeface="Arial"/>
              <a:buChar char="•"/>
            </a:pPr>
            <a:r>
              <a:rPr lang="en-US" sz="2411" spc="236">
                <a:solidFill>
                  <a:srgbClr val="F5FFF5"/>
                </a:solidFill>
                <a:latin typeface="DM Sans"/>
                <a:ea typeface="DM Sans"/>
                <a:cs typeface="DM Sans"/>
                <a:sym typeface="DM Sans"/>
              </a:rPr>
              <a:t>Medical Data Analysis / Machine Learning: </a:t>
            </a:r>
          </a:p>
          <a:p>
            <a:pPr algn="l">
              <a:lnSpc>
                <a:spcPts val="3328"/>
              </a:lnSpc>
            </a:pPr>
            <a:r>
              <a:rPr lang="en-US" sz="2411" spc="236">
                <a:solidFill>
                  <a:srgbClr val="F5FFF5"/>
                </a:solidFill>
                <a:latin typeface="DM Sans"/>
                <a:ea typeface="DM Sans"/>
                <a:cs typeface="DM Sans"/>
                <a:sym typeface="DM Sans"/>
              </a:rPr>
              <a:t> Symptom-based Disease Prediction:</a:t>
            </a:r>
          </a:p>
          <a:p>
            <a:pPr algn="l">
              <a:lnSpc>
                <a:spcPts val="3328"/>
              </a:lnSpc>
            </a:pPr>
            <a:r>
              <a:rPr lang="en-US" sz="2411" spc="236">
                <a:solidFill>
                  <a:srgbClr val="F5FFF5"/>
                </a:solidFill>
                <a:latin typeface="DM Sans"/>
                <a:ea typeface="DM Sans"/>
                <a:cs typeface="DM Sans"/>
                <a:sym typeface="DM Sans"/>
              </a:rPr>
              <a:t> Use of machine learning models (like decision trees, neural networks,</a:t>
            </a:r>
          </a:p>
          <a:p>
            <a:pPr algn="l">
              <a:lnSpc>
                <a:spcPts val="3328"/>
              </a:lnSpc>
            </a:pPr>
            <a:r>
              <a:rPr lang="en-US" sz="2411" spc="236">
                <a:solidFill>
                  <a:srgbClr val="F5FFF5"/>
                </a:solidFill>
                <a:latin typeface="DM Sans"/>
                <a:ea typeface="DM Sans"/>
                <a:cs typeface="DM Sans"/>
                <a:sym typeface="DM Sans"/>
              </a:rPr>
              <a:t> etc.) trained on medical datasets to predict diseases based on</a:t>
            </a:r>
          </a:p>
          <a:p>
            <a:pPr algn="l">
              <a:lnSpc>
                <a:spcPts val="3328"/>
              </a:lnSpc>
            </a:pPr>
            <a:r>
              <a:rPr lang="en-US" sz="2411" spc="236">
                <a:solidFill>
                  <a:srgbClr val="F5FFF5"/>
                </a:solidFill>
                <a:latin typeface="DM Sans"/>
                <a:ea typeface="DM Sans"/>
                <a:cs typeface="DM Sans"/>
                <a:sym typeface="DM Sans"/>
              </a:rPr>
              <a:t> symptoms. Alternatively, rule-based systems can be used, which match</a:t>
            </a:r>
          </a:p>
          <a:p>
            <a:pPr algn="l">
              <a:lnSpc>
                <a:spcPts val="3328"/>
              </a:lnSpc>
            </a:pPr>
            <a:r>
              <a:rPr lang="en-US" sz="2411" spc="236">
                <a:solidFill>
                  <a:srgbClr val="F5FFF5"/>
                </a:solidFill>
                <a:latin typeface="DM Sans"/>
                <a:ea typeface="DM Sans"/>
                <a:cs typeface="DM Sans"/>
                <a:sym typeface="DM Sans"/>
              </a:rPr>
              <a:t> symptoms with known diseases.</a:t>
            </a:r>
          </a:p>
          <a:p>
            <a:pPr algn="l">
              <a:lnSpc>
                <a:spcPts val="3328"/>
              </a:lnSpc>
            </a:pPr>
            <a:endParaRPr lang="en-US" sz="2411" spc="236">
              <a:solidFill>
                <a:srgbClr val="F5FFF5"/>
              </a:solidFill>
              <a:latin typeface="DM Sans"/>
              <a:ea typeface="DM Sans"/>
              <a:cs typeface="DM Sans"/>
              <a:sym typeface="DM Sans"/>
            </a:endParaRPr>
          </a:p>
          <a:p>
            <a:pPr algn="l">
              <a:lnSpc>
                <a:spcPts val="3328"/>
              </a:lnSpc>
            </a:pPr>
            <a:r>
              <a:rPr lang="en-US" sz="2411" u="none" spc="236">
                <a:solidFill>
                  <a:srgbClr val="F5FFF5"/>
                </a:solidFill>
                <a:latin typeface="DM Sans"/>
                <a:ea typeface="DM Sans"/>
                <a:cs typeface="DM Sans"/>
                <a:sym typeface="DM Sans"/>
              </a:rPr>
              <a:t> </a:t>
            </a:r>
          </a:p>
          <a:p>
            <a:pPr algn="l">
              <a:lnSpc>
                <a:spcPts val="3328"/>
              </a:lnSpc>
            </a:pPr>
            <a:endParaRPr lang="en-US" sz="2411" u="none" spc="236">
              <a:solidFill>
                <a:srgbClr val="F5FFF5"/>
              </a:solidFill>
              <a:latin typeface="DM Sans"/>
              <a:ea typeface="DM Sans"/>
              <a:cs typeface="DM Sans"/>
              <a:sym typeface="DM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sp>
        <p:nvSpPr>
          <p:cNvPr id="3" name="Freeform 3"/>
          <p:cNvSpPr/>
          <p:nvPr/>
        </p:nvSpPr>
        <p:spPr>
          <a:xfrm rot="3407869">
            <a:off x="12052165" y="1118883"/>
            <a:ext cx="12471670" cy="5351480"/>
          </a:xfrm>
          <a:custGeom>
            <a:avLst/>
            <a:gdLst/>
            <a:ahLst/>
            <a:cxnLst/>
            <a:rect l="l" t="t" r="r" b="b"/>
            <a:pathLst>
              <a:path w="12471670" h="5351480">
                <a:moveTo>
                  <a:pt x="0" y="0"/>
                </a:moveTo>
                <a:lnTo>
                  <a:pt x="12471670" y="0"/>
                </a:lnTo>
                <a:lnTo>
                  <a:pt x="12471670" y="5351480"/>
                </a:lnTo>
                <a:lnTo>
                  <a:pt x="0" y="535148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1489411" y="664311"/>
            <a:ext cx="6021895" cy="8876442"/>
          </a:xfrm>
          <a:custGeom>
            <a:avLst/>
            <a:gdLst/>
            <a:ahLst/>
            <a:cxnLst/>
            <a:rect l="l" t="t" r="r" b="b"/>
            <a:pathLst>
              <a:path w="6021895" h="8876442">
                <a:moveTo>
                  <a:pt x="0" y="0"/>
                </a:moveTo>
                <a:lnTo>
                  <a:pt x="6021895" y="0"/>
                </a:lnTo>
                <a:lnTo>
                  <a:pt x="6021895" y="8876442"/>
                </a:lnTo>
                <a:lnTo>
                  <a:pt x="0" y="8876442"/>
                </a:lnTo>
                <a:lnTo>
                  <a:pt x="0" y="0"/>
                </a:lnTo>
                <a:close/>
              </a:path>
            </a:pathLst>
          </a:custGeom>
          <a:blipFill>
            <a:blip r:embed="rId4"/>
            <a:stretch>
              <a:fillRect l="-42054" r="-79050"/>
            </a:stretch>
          </a:blipFill>
        </p:spPr>
      </p:sp>
      <p:sp>
        <p:nvSpPr>
          <p:cNvPr id="5" name="Freeform 5"/>
          <p:cNvSpPr/>
          <p:nvPr/>
        </p:nvSpPr>
        <p:spPr>
          <a:xfrm>
            <a:off x="8203215" y="7962246"/>
            <a:ext cx="4876482" cy="516424"/>
          </a:xfrm>
          <a:custGeom>
            <a:avLst/>
            <a:gdLst/>
            <a:ahLst/>
            <a:cxnLst/>
            <a:rect l="l" t="t" r="r" b="b"/>
            <a:pathLst>
              <a:path w="4876482" h="516424">
                <a:moveTo>
                  <a:pt x="0" y="0"/>
                </a:moveTo>
                <a:lnTo>
                  <a:pt x="4876483" y="0"/>
                </a:lnTo>
                <a:lnTo>
                  <a:pt x="4876483" y="516423"/>
                </a:lnTo>
                <a:lnTo>
                  <a:pt x="0" y="516423"/>
                </a:lnTo>
                <a:lnTo>
                  <a:pt x="0" y="0"/>
                </a:lnTo>
                <a:close/>
              </a:path>
            </a:pathLst>
          </a:custGeom>
          <a:blipFill>
            <a:blip r:embed="rId5"/>
            <a:stretch>
              <a:fillRect t="-86495"/>
            </a:stretch>
          </a:blipFill>
        </p:spPr>
      </p:sp>
      <p:grpSp>
        <p:nvGrpSpPr>
          <p:cNvPr id="6" name="Group 6"/>
          <p:cNvGrpSpPr/>
          <p:nvPr/>
        </p:nvGrpSpPr>
        <p:grpSpPr>
          <a:xfrm>
            <a:off x="8220749" y="3205532"/>
            <a:ext cx="4858949" cy="4794814"/>
            <a:chOff x="0" y="0"/>
            <a:chExt cx="1279723" cy="1262832"/>
          </a:xfrm>
        </p:grpSpPr>
        <p:sp>
          <p:nvSpPr>
            <p:cNvPr id="7" name="Freeform 7"/>
            <p:cNvSpPr/>
            <p:nvPr/>
          </p:nvSpPr>
          <p:spPr>
            <a:xfrm>
              <a:off x="0" y="0"/>
              <a:ext cx="1279723" cy="1262832"/>
            </a:xfrm>
            <a:custGeom>
              <a:avLst/>
              <a:gdLst/>
              <a:ahLst/>
              <a:cxnLst/>
              <a:rect l="l" t="t" r="r" b="b"/>
              <a:pathLst>
                <a:path w="1279723" h="1262832">
                  <a:moveTo>
                    <a:pt x="0" y="0"/>
                  </a:moveTo>
                  <a:lnTo>
                    <a:pt x="1279723" y="0"/>
                  </a:lnTo>
                  <a:lnTo>
                    <a:pt x="1279723" y="1262832"/>
                  </a:lnTo>
                  <a:lnTo>
                    <a:pt x="0" y="1262832"/>
                  </a:lnTo>
                  <a:close/>
                </a:path>
              </a:pathLst>
            </a:custGeom>
            <a:solidFill>
              <a:srgbClr val="1A1A1A"/>
            </a:solidFill>
          </p:spPr>
        </p:sp>
        <p:sp>
          <p:nvSpPr>
            <p:cNvPr id="8" name="TextBox 8"/>
            <p:cNvSpPr txBox="1"/>
            <p:nvPr/>
          </p:nvSpPr>
          <p:spPr>
            <a:xfrm>
              <a:off x="0" y="-57150"/>
              <a:ext cx="1279723" cy="1319982"/>
            </a:xfrm>
            <a:prstGeom prst="rect">
              <a:avLst/>
            </a:prstGeom>
          </p:spPr>
          <p:txBody>
            <a:bodyPr lIns="50800" tIns="50800" rIns="50800" bIns="50800" rtlCol="0" anchor="ctr"/>
            <a:lstStyle/>
            <a:p>
              <a:pPr marL="0" lvl="0" indent="0" algn="ctr">
                <a:lnSpc>
                  <a:spcPts val="4114"/>
                </a:lnSpc>
                <a:spcBef>
                  <a:spcPct val="0"/>
                </a:spcBef>
              </a:pPr>
              <a:endParaRPr/>
            </a:p>
          </p:txBody>
        </p:sp>
      </p:grpSp>
      <p:sp>
        <p:nvSpPr>
          <p:cNvPr id="9" name="Freeform 9"/>
          <p:cNvSpPr/>
          <p:nvPr/>
        </p:nvSpPr>
        <p:spPr>
          <a:xfrm rot="3407869">
            <a:off x="-4696947" y="10150458"/>
            <a:ext cx="12471670" cy="5351480"/>
          </a:xfrm>
          <a:custGeom>
            <a:avLst/>
            <a:gdLst/>
            <a:ahLst/>
            <a:cxnLst/>
            <a:rect l="l" t="t" r="r" b="b"/>
            <a:pathLst>
              <a:path w="12471670" h="5351480">
                <a:moveTo>
                  <a:pt x="0" y="0"/>
                </a:moveTo>
                <a:lnTo>
                  <a:pt x="12471670" y="0"/>
                </a:lnTo>
                <a:lnTo>
                  <a:pt x="12471670" y="5351480"/>
                </a:lnTo>
                <a:lnTo>
                  <a:pt x="0" y="535148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0" name="Freeform 10"/>
          <p:cNvSpPr/>
          <p:nvPr/>
        </p:nvSpPr>
        <p:spPr>
          <a:xfrm>
            <a:off x="9365769" y="3791077"/>
            <a:ext cx="2551375" cy="2622909"/>
          </a:xfrm>
          <a:custGeom>
            <a:avLst/>
            <a:gdLst/>
            <a:ahLst/>
            <a:cxnLst/>
            <a:rect l="l" t="t" r="r" b="b"/>
            <a:pathLst>
              <a:path w="2551375" h="2622909">
                <a:moveTo>
                  <a:pt x="0" y="0"/>
                </a:moveTo>
                <a:lnTo>
                  <a:pt x="2551375" y="0"/>
                </a:lnTo>
                <a:lnTo>
                  <a:pt x="2551375" y="2622909"/>
                </a:lnTo>
                <a:lnTo>
                  <a:pt x="0" y="262290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1" name="TextBox 11"/>
          <p:cNvSpPr txBox="1"/>
          <p:nvPr/>
        </p:nvSpPr>
        <p:spPr>
          <a:xfrm>
            <a:off x="2191002" y="1114425"/>
            <a:ext cx="9726143" cy="1849401"/>
          </a:xfrm>
          <a:prstGeom prst="rect">
            <a:avLst/>
          </a:prstGeom>
        </p:spPr>
        <p:txBody>
          <a:bodyPr lIns="0" tIns="0" rIns="0" bIns="0" rtlCol="0" anchor="t">
            <a:spAutoFit/>
          </a:bodyPr>
          <a:lstStyle/>
          <a:p>
            <a:pPr marL="0" lvl="0" indent="0" algn="l">
              <a:lnSpc>
                <a:spcPts val="7113"/>
              </a:lnSpc>
            </a:pPr>
            <a:r>
              <a:rPr lang="en-US" sz="6774" b="1" spc="663">
                <a:solidFill>
                  <a:srgbClr val="231F20"/>
                </a:solidFill>
                <a:latin typeface="Oswald Bold"/>
                <a:ea typeface="Oswald Bold"/>
                <a:cs typeface="Oswald Bold"/>
                <a:sym typeface="Oswald Bold"/>
              </a:rPr>
              <a:t>PROBLM SOLVED BY THIS PROJECT</a:t>
            </a:r>
          </a:p>
        </p:txBody>
      </p:sp>
      <p:sp>
        <p:nvSpPr>
          <p:cNvPr id="12" name="TextBox 12"/>
          <p:cNvSpPr txBox="1"/>
          <p:nvPr/>
        </p:nvSpPr>
        <p:spPr>
          <a:xfrm>
            <a:off x="2191002" y="4091861"/>
            <a:ext cx="6668363" cy="3453876"/>
          </a:xfrm>
          <a:prstGeom prst="rect">
            <a:avLst/>
          </a:prstGeom>
        </p:spPr>
        <p:txBody>
          <a:bodyPr lIns="0" tIns="0" rIns="0" bIns="0" rtlCol="0" anchor="t">
            <a:spAutoFit/>
          </a:bodyPr>
          <a:lstStyle/>
          <a:p>
            <a:pPr marL="535079" lvl="1" indent="-267540" algn="l">
              <a:lnSpc>
                <a:spcPts val="3420"/>
              </a:lnSpc>
              <a:buFont typeface="Arial"/>
              <a:buChar char="•"/>
            </a:pPr>
            <a:r>
              <a:rPr lang="en-US" sz="2478" spc="242">
                <a:solidFill>
                  <a:srgbClr val="231F20"/>
                </a:solidFill>
                <a:latin typeface="DM Sans"/>
                <a:ea typeface="DM Sans"/>
                <a:cs typeface="DM Sans"/>
                <a:sym typeface="DM Sans"/>
              </a:rPr>
              <a:t>Delayed Disease Diagnosis</a:t>
            </a:r>
          </a:p>
          <a:p>
            <a:pPr marL="535079" lvl="1" indent="-267540" algn="l">
              <a:lnSpc>
                <a:spcPts val="3420"/>
              </a:lnSpc>
              <a:buFont typeface="Arial"/>
              <a:buChar char="•"/>
            </a:pPr>
            <a:r>
              <a:rPr lang="en-US" sz="2478" spc="242">
                <a:solidFill>
                  <a:srgbClr val="231F20"/>
                </a:solidFill>
                <a:latin typeface="DM Sans"/>
                <a:ea typeface="DM Sans"/>
                <a:cs typeface="DM Sans"/>
                <a:sym typeface="DM Sans"/>
              </a:rPr>
              <a:t>Accessibility to Healthcare Information</a:t>
            </a:r>
          </a:p>
          <a:p>
            <a:pPr marL="535079" lvl="1" indent="-267540" algn="l">
              <a:lnSpc>
                <a:spcPts val="3420"/>
              </a:lnSpc>
              <a:buFont typeface="Arial"/>
              <a:buChar char="•"/>
            </a:pPr>
            <a:r>
              <a:rPr lang="en-US" sz="2478" spc="242">
                <a:solidFill>
                  <a:srgbClr val="231F20"/>
                </a:solidFill>
                <a:latin typeface="DM Sans"/>
                <a:ea typeface="DM Sans"/>
                <a:cs typeface="DM Sans"/>
                <a:sym typeface="DM Sans"/>
              </a:rPr>
              <a:t>Blood Donation Logistics:</a:t>
            </a:r>
          </a:p>
          <a:p>
            <a:pPr marL="535079" lvl="1" indent="-267540" algn="l">
              <a:lnSpc>
                <a:spcPts val="3420"/>
              </a:lnSpc>
              <a:buFont typeface="Arial"/>
              <a:buChar char="•"/>
            </a:pPr>
            <a:r>
              <a:rPr lang="en-US" sz="2478" spc="242">
                <a:solidFill>
                  <a:srgbClr val="231F20"/>
                </a:solidFill>
                <a:latin typeface="DM Sans"/>
                <a:ea typeface="DM Sans"/>
                <a:cs typeface="DM Sans"/>
                <a:sym typeface="DM Sans"/>
              </a:rPr>
              <a:t>Fragmented Healthcare Management</a:t>
            </a:r>
          </a:p>
          <a:p>
            <a:pPr marL="535079" lvl="1" indent="-267540" algn="l">
              <a:lnSpc>
                <a:spcPts val="3420"/>
              </a:lnSpc>
              <a:buFont typeface="Arial"/>
              <a:buChar char="•"/>
            </a:pPr>
            <a:r>
              <a:rPr lang="en-US" sz="2478" spc="242">
                <a:solidFill>
                  <a:srgbClr val="231F20"/>
                </a:solidFill>
                <a:latin typeface="DM Sans"/>
                <a:ea typeface="DM Sans"/>
                <a:cs typeface="DM Sans"/>
                <a:sym typeface="DM Sans"/>
              </a:rPr>
              <a:t>Convenience &amp; Time-saving</a:t>
            </a:r>
          </a:p>
          <a:p>
            <a:pPr algn="l">
              <a:lnSpc>
                <a:spcPts val="3420"/>
              </a:lnSpc>
            </a:pPr>
            <a:endParaRPr lang="en-US" sz="2478" spc="242">
              <a:solidFill>
                <a:srgbClr val="231F20"/>
              </a:solidFill>
              <a:latin typeface="DM Sans"/>
              <a:ea typeface="DM Sans"/>
              <a:cs typeface="DM Sans"/>
              <a:sym typeface="DM Sans"/>
            </a:endParaRPr>
          </a:p>
        </p:txBody>
      </p:sp>
      <p:sp>
        <p:nvSpPr>
          <p:cNvPr id="13" name="TextBox 13"/>
          <p:cNvSpPr txBox="1"/>
          <p:nvPr/>
        </p:nvSpPr>
        <p:spPr>
          <a:xfrm>
            <a:off x="8498723" y="6552336"/>
            <a:ext cx="4135657" cy="694164"/>
          </a:xfrm>
          <a:prstGeom prst="rect">
            <a:avLst/>
          </a:prstGeom>
        </p:spPr>
        <p:txBody>
          <a:bodyPr lIns="0" tIns="0" rIns="0" bIns="0" rtlCol="0" anchor="t">
            <a:spAutoFit/>
          </a:bodyPr>
          <a:lstStyle/>
          <a:p>
            <a:pPr algn="ctr">
              <a:lnSpc>
                <a:spcPts val="5632"/>
              </a:lnSpc>
            </a:pPr>
            <a:r>
              <a:rPr lang="en-US" sz="4081" b="1" spc="399">
                <a:solidFill>
                  <a:srgbClr val="FDFBFB"/>
                </a:solidFill>
                <a:latin typeface="DM Sans Bold"/>
                <a:ea typeface="DM Sans Bold"/>
                <a:cs typeface="DM Sans Bold"/>
                <a:sym typeface="DM Sans Bold"/>
              </a:rPr>
              <a:t>USERS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grpSp>
        <p:nvGrpSpPr>
          <p:cNvPr id="3" name="Group 3"/>
          <p:cNvGrpSpPr/>
          <p:nvPr/>
        </p:nvGrpSpPr>
        <p:grpSpPr>
          <a:xfrm>
            <a:off x="2112578" y="2310179"/>
            <a:ext cx="2049168" cy="2049168"/>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A1A1A"/>
            </a:solidFill>
          </p:spPr>
        </p:sp>
        <p:sp>
          <p:nvSpPr>
            <p:cNvPr id="5" name="TextBox 5"/>
            <p:cNvSpPr txBox="1"/>
            <p:nvPr/>
          </p:nvSpPr>
          <p:spPr>
            <a:xfrm>
              <a:off x="76200" y="19050"/>
              <a:ext cx="660400" cy="717550"/>
            </a:xfrm>
            <a:prstGeom prst="rect">
              <a:avLst/>
            </a:prstGeom>
          </p:spPr>
          <p:txBody>
            <a:bodyPr lIns="50800" tIns="50800" rIns="50800" bIns="50800" rtlCol="0" anchor="ctr"/>
            <a:lstStyle/>
            <a:p>
              <a:pPr marL="0" lvl="0" indent="0" algn="ctr">
                <a:lnSpc>
                  <a:spcPts val="4114"/>
                </a:lnSpc>
                <a:spcBef>
                  <a:spcPct val="0"/>
                </a:spcBef>
              </a:pPr>
              <a:endParaRPr/>
            </a:p>
          </p:txBody>
        </p:sp>
      </p:grpSp>
      <p:sp>
        <p:nvSpPr>
          <p:cNvPr id="6" name="Freeform 6"/>
          <p:cNvSpPr/>
          <p:nvPr/>
        </p:nvSpPr>
        <p:spPr>
          <a:xfrm rot="-1149004">
            <a:off x="2523460" y="2377339"/>
            <a:ext cx="1357816" cy="1377857"/>
          </a:xfrm>
          <a:custGeom>
            <a:avLst/>
            <a:gdLst/>
            <a:ahLst/>
            <a:cxnLst/>
            <a:rect l="l" t="t" r="r" b="b"/>
            <a:pathLst>
              <a:path w="1357816" h="1377857">
                <a:moveTo>
                  <a:pt x="0" y="0"/>
                </a:moveTo>
                <a:lnTo>
                  <a:pt x="1357815" y="0"/>
                </a:lnTo>
                <a:lnTo>
                  <a:pt x="1357815" y="1377857"/>
                </a:lnTo>
                <a:lnTo>
                  <a:pt x="0" y="1377857"/>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7" name="Group 7"/>
          <p:cNvGrpSpPr/>
          <p:nvPr/>
        </p:nvGrpSpPr>
        <p:grpSpPr>
          <a:xfrm>
            <a:off x="219365" y="3414250"/>
            <a:ext cx="5835593" cy="6017407"/>
            <a:chOff x="0" y="0"/>
            <a:chExt cx="1815613" cy="1872181"/>
          </a:xfrm>
        </p:grpSpPr>
        <p:sp>
          <p:nvSpPr>
            <p:cNvPr id="8" name="Freeform 8"/>
            <p:cNvSpPr/>
            <p:nvPr/>
          </p:nvSpPr>
          <p:spPr>
            <a:xfrm>
              <a:off x="0" y="0"/>
              <a:ext cx="1815613" cy="1872181"/>
            </a:xfrm>
            <a:custGeom>
              <a:avLst/>
              <a:gdLst/>
              <a:ahLst/>
              <a:cxnLst/>
              <a:rect l="l" t="t" r="r" b="b"/>
              <a:pathLst>
                <a:path w="1815613" h="1872181">
                  <a:moveTo>
                    <a:pt x="0" y="0"/>
                  </a:moveTo>
                  <a:lnTo>
                    <a:pt x="1815613" y="0"/>
                  </a:lnTo>
                  <a:lnTo>
                    <a:pt x="1815613" y="1872181"/>
                  </a:lnTo>
                  <a:lnTo>
                    <a:pt x="0" y="1872181"/>
                  </a:lnTo>
                  <a:close/>
                </a:path>
              </a:pathLst>
            </a:custGeom>
            <a:solidFill>
              <a:srgbClr val="1A1A1A"/>
            </a:solidFill>
          </p:spPr>
        </p:sp>
        <p:sp>
          <p:nvSpPr>
            <p:cNvPr id="9" name="TextBox 9"/>
            <p:cNvSpPr txBox="1"/>
            <p:nvPr/>
          </p:nvSpPr>
          <p:spPr>
            <a:xfrm>
              <a:off x="0" y="-57150"/>
              <a:ext cx="1815613" cy="1929331"/>
            </a:xfrm>
            <a:prstGeom prst="rect">
              <a:avLst/>
            </a:prstGeom>
          </p:spPr>
          <p:txBody>
            <a:bodyPr lIns="50800" tIns="50800" rIns="50800" bIns="50800" rtlCol="0" anchor="ctr"/>
            <a:lstStyle/>
            <a:p>
              <a:pPr marL="0" lvl="0" indent="0" algn="ctr">
                <a:lnSpc>
                  <a:spcPts val="4114"/>
                </a:lnSpc>
                <a:spcBef>
                  <a:spcPct val="0"/>
                </a:spcBef>
              </a:pPr>
              <a:endParaRPr/>
            </a:p>
          </p:txBody>
        </p:sp>
      </p:grpSp>
      <p:sp>
        <p:nvSpPr>
          <p:cNvPr id="10" name="Freeform 10"/>
          <p:cNvSpPr/>
          <p:nvPr/>
        </p:nvSpPr>
        <p:spPr>
          <a:xfrm rot="257863">
            <a:off x="-571305" y="6150994"/>
            <a:ext cx="21273218" cy="9128145"/>
          </a:xfrm>
          <a:custGeom>
            <a:avLst/>
            <a:gdLst/>
            <a:ahLst/>
            <a:cxnLst/>
            <a:rect l="l" t="t" r="r" b="b"/>
            <a:pathLst>
              <a:path w="21273218" h="9128145">
                <a:moveTo>
                  <a:pt x="0" y="0"/>
                </a:moveTo>
                <a:lnTo>
                  <a:pt x="21273219" y="0"/>
                </a:lnTo>
                <a:lnTo>
                  <a:pt x="21273219" y="9128145"/>
                </a:lnTo>
                <a:lnTo>
                  <a:pt x="0" y="9128145"/>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1" name="Freeform 11"/>
          <p:cNvSpPr/>
          <p:nvPr/>
        </p:nvSpPr>
        <p:spPr>
          <a:xfrm>
            <a:off x="11885510" y="8765585"/>
            <a:ext cx="4128022" cy="437161"/>
          </a:xfrm>
          <a:custGeom>
            <a:avLst/>
            <a:gdLst/>
            <a:ahLst/>
            <a:cxnLst/>
            <a:rect l="l" t="t" r="r" b="b"/>
            <a:pathLst>
              <a:path w="4128022" h="437161">
                <a:moveTo>
                  <a:pt x="0" y="0"/>
                </a:moveTo>
                <a:lnTo>
                  <a:pt x="4128022" y="0"/>
                </a:lnTo>
                <a:lnTo>
                  <a:pt x="4128022" y="437161"/>
                </a:lnTo>
                <a:lnTo>
                  <a:pt x="0" y="437161"/>
                </a:lnTo>
                <a:lnTo>
                  <a:pt x="0" y="0"/>
                </a:lnTo>
                <a:close/>
              </a:path>
            </a:pathLst>
          </a:custGeom>
          <a:blipFill>
            <a:blip r:embed="rId5"/>
            <a:stretch>
              <a:fillRect t="-86495"/>
            </a:stretch>
          </a:blipFill>
        </p:spPr>
      </p:sp>
      <p:sp>
        <p:nvSpPr>
          <p:cNvPr id="12" name="Freeform 12"/>
          <p:cNvSpPr/>
          <p:nvPr/>
        </p:nvSpPr>
        <p:spPr>
          <a:xfrm>
            <a:off x="7080191" y="8765585"/>
            <a:ext cx="4128022" cy="437161"/>
          </a:xfrm>
          <a:custGeom>
            <a:avLst/>
            <a:gdLst/>
            <a:ahLst/>
            <a:cxnLst/>
            <a:rect l="l" t="t" r="r" b="b"/>
            <a:pathLst>
              <a:path w="4128022" h="437161">
                <a:moveTo>
                  <a:pt x="0" y="0"/>
                </a:moveTo>
                <a:lnTo>
                  <a:pt x="4128021" y="0"/>
                </a:lnTo>
                <a:lnTo>
                  <a:pt x="4128021" y="437161"/>
                </a:lnTo>
                <a:lnTo>
                  <a:pt x="0" y="437161"/>
                </a:lnTo>
                <a:lnTo>
                  <a:pt x="0" y="0"/>
                </a:lnTo>
                <a:close/>
              </a:path>
            </a:pathLst>
          </a:custGeom>
          <a:blipFill>
            <a:blip r:embed="rId5"/>
            <a:stretch>
              <a:fillRect t="-86495"/>
            </a:stretch>
          </a:blipFill>
        </p:spPr>
      </p:sp>
      <p:sp>
        <p:nvSpPr>
          <p:cNvPr id="13" name="Freeform 13"/>
          <p:cNvSpPr/>
          <p:nvPr/>
        </p:nvSpPr>
        <p:spPr>
          <a:xfrm>
            <a:off x="2274468" y="8765585"/>
            <a:ext cx="4128022" cy="437161"/>
          </a:xfrm>
          <a:custGeom>
            <a:avLst/>
            <a:gdLst/>
            <a:ahLst/>
            <a:cxnLst/>
            <a:rect l="l" t="t" r="r" b="b"/>
            <a:pathLst>
              <a:path w="4128022" h="437161">
                <a:moveTo>
                  <a:pt x="0" y="0"/>
                </a:moveTo>
                <a:lnTo>
                  <a:pt x="4128022" y="0"/>
                </a:lnTo>
                <a:lnTo>
                  <a:pt x="4128022" y="437161"/>
                </a:lnTo>
                <a:lnTo>
                  <a:pt x="0" y="437161"/>
                </a:lnTo>
                <a:lnTo>
                  <a:pt x="0" y="0"/>
                </a:lnTo>
                <a:close/>
              </a:path>
            </a:pathLst>
          </a:custGeom>
          <a:blipFill>
            <a:blip r:embed="rId5"/>
            <a:stretch>
              <a:fillRect t="-86495"/>
            </a:stretch>
          </a:blipFill>
        </p:spPr>
      </p:sp>
      <p:grpSp>
        <p:nvGrpSpPr>
          <p:cNvPr id="14" name="Group 14"/>
          <p:cNvGrpSpPr/>
          <p:nvPr/>
        </p:nvGrpSpPr>
        <p:grpSpPr>
          <a:xfrm>
            <a:off x="8119620" y="2310179"/>
            <a:ext cx="2049168" cy="2049168"/>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A1A1A"/>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marL="0" lvl="0" indent="0" algn="ctr">
                <a:lnSpc>
                  <a:spcPts val="4114"/>
                </a:lnSpc>
                <a:spcBef>
                  <a:spcPct val="0"/>
                </a:spcBef>
              </a:pPr>
              <a:endParaRPr/>
            </a:p>
          </p:txBody>
        </p:sp>
      </p:grpSp>
      <p:grpSp>
        <p:nvGrpSpPr>
          <p:cNvPr id="17" name="Group 17"/>
          <p:cNvGrpSpPr/>
          <p:nvPr/>
        </p:nvGrpSpPr>
        <p:grpSpPr>
          <a:xfrm rot="-1337674">
            <a:off x="8607845" y="2386873"/>
            <a:ext cx="879314" cy="1594692"/>
            <a:chOff x="0" y="0"/>
            <a:chExt cx="1172419" cy="2126256"/>
          </a:xfrm>
        </p:grpSpPr>
        <p:sp>
          <p:nvSpPr>
            <p:cNvPr id="18" name="Freeform 18"/>
            <p:cNvSpPr/>
            <p:nvPr/>
          </p:nvSpPr>
          <p:spPr>
            <a:xfrm>
              <a:off x="592509" y="0"/>
              <a:ext cx="487999" cy="1903543"/>
            </a:xfrm>
            <a:custGeom>
              <a:avLst/>
              <a:gdLst/>
              <a:ahLst/>
              <a:cxnLst/>
              <a:rect l="l" t="t" r="r" b="b"/>
              <a:pathLst>
                <a:path w="487999" h="1903543">
                  <a:moveTo>
                    <a:pt x="0" y="0"/>
                  </a:moveTo>
                  <a:lnTo>
                    <a:pt x="488000" y="0"/>
                  </a:lnTo>
                  <a:lnTo>
                    <a:pt x="488000" y="1903543"/>
                  </a:lnTo>
                  <a:lnTo>
                    <a:pt x="0" y="1903543"/>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9" name="Freeform 19"/>
            <p:cNvSpPr/>
            <p:nvPr/>
          </p:nvSpPr>
          <p:spPr>
            <a:xfrm rot="-1334960">
              <a:off x="342210" y="201190"/>
              <a:ext cx="487999" cy="1903543"/>
            </a:xfrm>
            <a:custGeom>
              <a:avLst/>
              <a:gdLst/>
              <a:ahLst/>
              <a:cxnLst/>
              <a:rect l="l" t="t" r="r" b="b"/>
              <a:pathLst>
                <a:path w="487999" h="1903543">
                  <a:moveTo>
                    <a:pt x="0" y="0"/>
                  </a:moveTo>
                  <a:lnTo>
                    <a:pt x="487999" y="0"/>
                  </a:lnTo>
                  <a:lnTo>
                    <a:pt x="487999" y="1903543"/>
                  </a:lnTo>
                  <a:lnTo>
                    <a:pt x="0" y="1903543"/>
                  </a:lnTo>
                  <a:lnTo>
                    <a:pt x="0" y="0"/>
                  </a:lnTo>
                  <a:close/>
                </a:path>
              </a:pathLst>
            </a:custGeom>
            <a:blipFill>
              <a:blip>
                <a:extLst>
                  <a:ext uri="{96DAC541-7B7A-43D3-8B79-37D633B846F1}">
                    <asvg:svgBlip xmlns:asvg="http://schemas.microsoft.com/office/drawing/2016/SVG/main" r:embed="rId7"/>
                  </a:ext>
                </a:extLst>
              </a:blip>
              <a:stretch>
                <a:fillRect/>
              </a:stretch>
            </a:blipFill>
          </p:spPr>
        </p:sp>
      </p:grpSp>
      <p:grpSp>
        <p:nvGrpSpPr>
          <p:cNvPr id="20" name="Group 20"/>
          <p:cNvGrpSpPr/>
          <p:nvPr/>
        </p:nvGrpSpPr>
        <p:grpSpPr>
          <a:xfrm>
            <a:off x="6226408" y="3414250"/>
            <a:ext cx="5835593" cy="6017407"/>
            <a:chOff x="0" y="0"/>
            <a:chExt cx="1815613" cy="1872181"/>
          </a:xfrm>
        </p:grpSpPr>
        <p:sp>
          <p:nvSpPr>
            <p:cNvPr id="21" name="Freeform 21"/>
            <p:cNvSpPr/>
            <p:nvPr/>
          </p:nvSpPr>
          <p:spPr>
            <a:xfrm>
              <a:off x="0" y="0"/>
              <a:ext cx="1815613" cy="1872181"/>
            </a:xfrm>
            <a:custGeom>
              <a:avLst/>
              <a:gdLst/>
              <a:ahLst/>
              <a:cxnLst/>
              <a:rect l="l" t="t" r="r" b="b"/>
              <a:pathLst>
                <a:path w="1815613" h="1872181">
                  <a:moveTo>
                    <a:pt x="0" y="0"/>
                  </a:moveTo>
                  <a:lnTo>
                    <a:pt x="1815613" y="0"/>
                  </a:lnTo>
                  <a:lnTo>
                    <a:pt x="1815613" y="1872181"/>
                  </a:lnTo>
                  <a:lnTo>
                    <a:pt x="0" y="1872181"/>
                  </a:lnTo>
                  <a:close/>
                </a:path>
              </a:pathLst>
            </a:custGeom>
            <a:solidFill>
              <a:srgbClr val="1A1A1A"/>
            </a:solidFill>
          </p:spPr>
        </p:sp>
        <p:sp>
          <p:nvSpPr>
            <p:cNvPr id="22" name="TextBox 22"/>
            <p:cNvSpPr txBox="1"/>
            <p:nvPr/>
          </p:nvSpPr>
          <p:spPr>
            <a:xfrm>
              <a:off x="0" y="-57150"/>
              <a:ext cx="1815613" cy="1929331"/>
            </a:xfrm>
            <a:prstGeom prst="rect">
              <a:avLst/>
            </a:prstGeom>
          </p:spPr>
          <p:txBody>
            <a:bodyPr lIns="50800" tIns="50800" rIns="50800" bIns="50800" rtlCol="0" anchor="ctr"/>
            <a:lstStyle/>
            <a:p>
              <a:pPr marL="0" lvl="0" indent="0" algn="ctr">
                <a:lnSpc>
                  <a:spcPts val="4114"/>
                </a:lnSpc>
                <a:spcBef>
                  <a:spcPct val="0"/>
                </a:spcBef>
              </a:pPr>
              <a:endParaRPr/>
            </a:p>
          </p:txBody>
        </p:sp>
      </p:grpSp>
      <p:grpSp>
        <p:nvGrpSpPr>
          <p:cNvPr id="23" name="Group 23"/>
          <p:cNvGrpSpPr/>
          <p:nvPr/>
        </p:nvGrpSpPr>
        <p:grpSpPr>
          <a:xfrm>
            <a:off x="14126254" y="2310179"/>
            <a:ext cx="2049168" cy="2049168"/>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A1A1A"/>
            </a:solidFill>
          </p:spPr>
        </p:sp>
        <p:sp>
          <p:nvSpPr>
            <p:cNvPr id="25" name="TextBox 25"/>
            <p:cNvSpPr txBox="1"/>
            <p:nvPr/>
          </p:nvSpPr>
          <p:spPr>
            <a:xfrm>
              <a:off x="76200" y="19050"/>
              <a:ext cx="660400" cy="717550"/>
            </a:xfrm>
            <a:prstGeom prst="rect">
              <a:avLst/>
            </a:prstGeom>
          </p:spPr>
          <p:txBody>
            <a:bodyPr lIns="50800" tIns="50800" rIns="50800" bIns="50800" rtlCol="0" anchor="ctr"/>
            <a:lstStyle/>
            <a:p>
              <a:pPr marL="0" lvl="0" indent="0" algn="ctr">
                <a:lnSpc>
                  <a:spcPts val="4114"/>
                </a:lnSpc>
                <a:spcBef>
                  <a:spcPct val="0"/>
                </a:spcBef>
              </a:pPr>
              <a:endParaRPr/>
            </a:p>
          </p:txBody>
        </p:sp>
      </p:grpSp>
      <p:sp>
        <p:nvSpPr>
          <p:cNvPr id="26" name="Freeform 26"/>
          <p:cNvSpPr/>
          <p:nvPr/>
        </p:nvSpPr>
        <p:spPr>
          <a:xfrm rot="-73017">
            <a:off x="14411108" y="2450717"/>
            <a:ext cx="1473585" cy="1473585"/>
          </a:xfrm>
          <a:custGeom>
            <a:avLst/>
            <a:gdLst/>
            <a:ahLst/>
            <a:cxnLst/>
            <a:rect l="l" t="t" r="r" b="b"/>
            <a:pathLst>
              <a:path w="1473585" h="1473585">
                <a:moveTo>
                  <a:pt x="0" y="0"/>
                </a:moveTo>
                <a:lnTo>
                  <a:pt x="1473585" y="0"/>
                </a:lnTo>
                <a:lnTo>
                  <a:pt x="1473585" y="1473585"/>
                </a:lnTo>
                <a:lnTo>
                  <a:pt x="0" y="1473585"/>
                </a:lnTo>
                <a:lnTo>
                  <a:pt x="0" y="0"/>
                </a:lnTo>
                <a:close/>
              </a:path>
            </a:pathLst>
          </a:custGeom>
          <a:blipFill>
            <a:blip>
              <a:extLst>
                <a:ext uri="{96DAC541-7B7A-43D3-8B79-37D633B846F1}">
                  <asvg:svgBlip xmlns:asvg="http://schemas.microsoft.com/office/drawing/2016/SVG/main" r:embed="rId8"/>
                </a:ext>
              </a:extLst>
            </a:blip>
            <a:stretch>
              <a:fillRect/>
            </a:stretch>
          </a:blipFill>
        </p:spPr>
      </p:sp>
      <p:grpSp>
        <p:nvGrpSpPr>
          <p:cNvPr id="27" name="Group 27"/>
          <p:cNvGrpSpPr/>
          <p:nvPr/>
        </p:nvGrpSpPr>
        <p:grpSpPr>
          <a:xfrm>
            <a:off x="12233042" y="3414250"/>
            <a:ext cx="5835593" cy="6017407"/>
            <a:chOff x="0" y="0"/>
            <a:chExt cx="1815613" cy="1872181"/>
          </a:xfrm>
        </p:grpSpPr>
        <p:sp>
          <p:nvSpPr>
            <p:cNvPr id="28" name="Freeform 28"/>
            <p:cNvSpPr/>
            <p:nvPr/>
          </p:nvSpPr>
          <p:spPr>
            <a:xfrm>
              <a:off x="0" y="0"/>
              <a:ext cx="1815613" cy="1872181"/>
            </a:xfrm>
            <a:custGeom>
              <a:avLst/>
              <a:gdLst/>
              <a:ahLst/>
              <a:cxnLst/>
              <a:rect l="l" t="t" r="r" b="b"/>
              <a:pathLst>
                <a:path w="1815613" h="1872181">
                  <a:moveTo>
                    <a:pt x="0" y="0"/>
                  </a:moveTo>
                  <a:lnTo>
                    <a:pt x="1815613" y="0"/>
                  </a:lnTo>
                  <a:lnTo>
                    <a:pt x="1815613" y="1872181"/>
                  </a:lnTo>
                  <a:lnTo>
                    <a:pt x="0" y="1872181"/>
                  </a:lnTo>
                  <a:close/>
                </a:path>
              </a:pathLst>
            </a:custGeom>
            <a:solidFill>
              <a:srgbClr val="1A1A1A"/>
            </a:solidFill>
          </p:spPr>
          <p:txBody>
            <a:bodyPr/>
            <a:lstStyle/>
            <a:p>
              <a:endParaRPr lang="en-IN" dirty="0"/>
            </a:p>
          </p:txBody>
        </p:sp>
        <p:sp>
          <p:nvSpPr>
            <p:cNvPr id="29" name="TextBox 29"/>
            <p:cNvSpPr txBox="1"/>
            <p:nvPr/>
          </p:nvSpPr>
          <p:spPr>
            <a:xfrm>
              <a:off x="0" y="-57150"/>
              <a:ext cx="1815613" cy="1929331"/>
            </a:xfrm>
            <a:prstGeom prst="rect">
              <a:avLst/>
            </a:prstGeom>
          </p:spPr>
          <p:txBody>
            <a:bodyPr lIns="50800" tIns="50800" rIns="50800" bIns="50800" rtlCol="0" anchor="ctr"/>
            <a:lstStyle/>
            <a:p>
              <a:pPr marL="0" lvl="0" indent="0" algn="ctr">
                <a:lnSpc>
                  <a:spcPts val="4114"/>
                </a:lnSpc>
                <a:spcBef>
                  <a:spcPct val="0"/>
                </a:spcBef>
              </a:pPr>
              <a:endParaRPr/>
            </a:p>
          </p:txBody>
        </p:sp>
      </p:grpSp>
      <p:sp>
        <p:nvSpPr>
          <p:cNvPr id="30" name="TextBox 30"/>
          <p:cNvSpPr txBox="1"/>
          <p:nvPr/>
        </p:nvSpPr>
        <p:spPr>
          <a:xfrm>
            <a:off x="6402695" y="3726593"/>
            <a:ext cx="5659306" cy="4752610"/>
          </a:xfrm>
          <a:prstGeom prst="rect">
            <a:avLst/>
          </a:prstGeom>
        </p:spPr>
        <p:txBody>
          <a:bodyPr lIns="0" tIns="0" rIns="0" bIns="0" rtlCol="0" anchor="t">
            <a:spAutoFit/>
          </a:bodyPr>
          <a:lstStyle/>
          <a:p>
            <a:pPr algn="l">
              <a:lnSpc>
                <a:spcPts val="2420"/>
              </a:lnSpc>
            </a:pPr>
            <a:r>
              <a:rPr lang="en-US" sz="1753" b="1" spc="171" dirty="0">
                <a:solidFill>
                  <a:srgbClr val="FFFBFB"/>
                </a:solidFill>
                <a:latin typeface="DM Sans Bold"/>
                <a:ea typeface="DM Sans Bold"/>
                <a:cs typeface="DM Sans Bold"/>
                <a:sym typeface="DM Sans Bold"/>
              </a:rPr>
              <a:t>Blood Donation:</a:t>
            </a:r>
          </a:p>
          <a:p>
            <a:pPr marL="378639" lvl="1" indent="-189320" algn="l">
              <a:lnSpc>
                <a:spcPts val="2420"/>
              </a:lnSpc>
              <a:buFont typeface="Arial"/>
              <a:buChar char="•"/>
            </a:pPr>
            <a:r>
              <a:rPr lang="en-US" sz="1753" spc="171" dirty="0">
                <a:solidFill>
                  <a:srgbClr val="FFFBFB"/>
                </a:solidFill>
                <a:latin typeface="DM Sans"/>
                <a:ea typeface="DM Sans"/>
                <a:cs typeface="DM Sans"/>
                <a:sym typeface="DM Sans"/>
              </a:rPr>
              <a:t>Online registration and scheduling</a:t>
            </a:r>
          </a:p>
          <a:p>
            <a:pPr marL="378639" lvl="1" indent="-189320" algn="l">
              <a:lnSpc>
                <a:spcPts val="2420"/>
              </a:lnSpc>
              <a:buFont typeface="Arial"/>
              <a:buChar char="•"/>
            </a:pPr>
            <a:r>
              <a:rPr lang="en-US" sz="1753" spc="171" dirty="0">
                <a:solidFill>
                  <a:srgbClr val="FFFBFB"/>
                </a:solidFill>
                <a:latin typeface="DM Sans"/>
                <a:ea typeface="DM Sans"/>
                <a:cs typeface="DM Sans"/>
                <a:sym typeface="DM Sans"/>
              </a:rPr>
              <a:t>Donor eligibility criteria and screening</a:t>
            </a:r>
          </a:p>
          <a:p>
            <a:pPr marL="378639" lvl="1" indent="-189320" algn="l">
              <a:lnSpc>
                <a:spcPts val="2420"/>
              </a:lnSpc>
              <a:buFont typeface="Arial"/>
              <a:buChar char="•"/>
            </a:pPr>
            <a:r>
              <a:rPr lang="en-US" sz="1753" spc="171" dirty="0">
                <a:solidFill>
                  <a:srgbClr val="FFFBFB"/>
                </a:solidFill>
                <a:latin typeface="DM Sans"/>
                <a:ea typeface="DM Sans"/>
                <a:cs typeface="DM Sans"/>
                <a:sym typeface="DM Sans"/>
              </a:rPr>
              <a:t>Mobile notifications for upcoming donations</a:t>
            </a:r>
          </a:p>
          <a:p>
            <a:pPr marL="378639" lvl="1" indent="-189320" algn="l">
              <a:lnSpc>
                <a:spcPts val="2420"/>
              </a:lnSpc>
              <a:buFont typeface="Arial"/>
              <a:buChar char="•"/>
            </a:pPr>
            <a:r>
              <a:rPr lang="en-US" sz="1753" spc="171" dirty="0">
                <a:solidFill>
                  <a:srgbClr val="FFFBFB"/>
                </a:solidFill>
                <a:latin typeface="DM Sans"/>
                <a:ea typeface="DM Sans"/>
                <a:cs typeface="DM Sans"/>
                <a:sym typeface="DM Sans"/>
              </a:rPr>
              <a:t>Incentives and rewards for regular donors</a:t>
            </a:r>
          </a:p>
          <a:p>
            <a:pPr algn="l">
              <a:lnSpc>
                <a:spcPts val="2420"/>
              </a:lnSpc>
            </a:pPr>
            <a:r>
              <a:rPr lang="en-US" sz="1753" b="1" spc="171" dirty="0">
                <a:solidFill>
                  <a:srgbClr val="FFFBFB"/>
                </a:solidFill>
                <a:latin typeface="DM Sans Bold"/>
                <a:ea typeface="DM Sans Bold"/>
                <a:cs typeface="DM Sans Bold"/>
                <a:sym typeface="DM Sans Bold"/>
              </a:rPr>
              <a:t>Blood Withdrawal:</a:t>
            </a:r>
          </a:p>
          <a:p>
            <a:pPr marL="378639" lvl="1" indent="-189320" algn="l">
              <a:lnSpc>
                <a:spcPts val="2420"/>
              </a:lnSpc>
              <a:buFont typeface="Arial"/>
              <a:buChar char="•"/>
            </a:pPr>
            <a:r>
              <a:rPr lang="en-US" sz="1753" spc="171" dirty="0">
                <a:solidFill>
                  <a:srgbClr val="FFFBFB"/>
                </a:solidFill>
                <a:latin typeface="DM Sans"/>
                <a:ea typeface="DM Sans"/>
                <a:cs typeface="DM Sans"/>
                <a:sym typeface="DM Sans"/>
              </a:rPr>
              <a:t>Request and tracking system for healthcare providers</a:t>
            </a:r>
          </a:p>
          <a:p>
            <a:pPr marL="378639" lvl="1" indent="-189320" algn="l">
              <a:lnSpc>
                <a:spcPts val="2420"/>
              </a:lnSpc>
              <a:buFont typeface="Arial"/>
              <a:buChar char="•"/>
            </a:pPr>
            <a:r>
              <a:rPr lang="en-US" sz="1753" spc="171" dirty="0">
                <a:solidFill>
                  <a:srgbClr val="FFFBFB"/>
                </a:solidFill>
                <a:latin typeface="DM Sans"/>
                <a:ea typeface="DM Sans"/>
                <a:cs typeface="DM Sans"/>
                <a:sym typeface="DM Sans"/>
              </a:rPr>
              <a:t>Inventory management and distribution</a:t>
            </a:r>
          </a:p>
          <a:p>
            <a:pPr marL="378639" lvl="1" indent="-189320" algn="l">
              <a:lnSpc>
                <a:spcPts val="2420"/>
              </a:lnSpc>
              <a:buFont typeface="Arial"/>
              <a:buChar char="•"/>
            </a:pPr>
            <a:r>
              <a:rPr lang="en-US" sz="1753" spc="171" dirty="0">
                <a:solidFill>
                  <a:srgbClr val="FFFBFB"/>
                </a:solidFill>
                <a:latin typeface="DM Sans"/>
                <a:ea typeface="DM Sans"/>
                <a:cs typeface="DM Sans"/>
                <a:sym typeface="DM Sans"/>
              </a:rPr>
              <a:t>Real-time updates on blood availability</a:t>
            </a:r>
          </a:p>
          <a:p>
            <a:pPr algn="l">
              <a:lnSpc>
                <a:spcPts val="2420"/>
              </a:lnSpc>
            </a:pPr>
            <a:r>
              <a:rPr lang="en-US" sz="1753" b="1" spc="171" dirty="0">
                <a:solidFill>
                  <a:srgbClr val="FFFBFB"/>
                </a:solidFill>
                <a:latin typeface="DM Sans Bold"/>
                <a:ea typeface="DM Sans Bold"/>
                <a:cs typeface="DM Sans Bold"/>
                <a:sym typeface="DM Sans Bold"/>
              </a:rPr>
              <a:t>Health Checkups:</a:t>
            </a:r>
          </a:p>
          <a:p>
            <a:pPr marL="378639" lvl="1" indent="-189320" algn="l">
              <a:lnSpc>
                <a:spcPts val="2420"/>
              </a:lnSpc>
              <a:buFont typeface="Arial"/>
              <a:buChar char="•"/>
            </a:pPr>
            <a:r>
              <a:rPr lang="en-US" sz="1753" spc="171" dirty="0">
                <a:solidFill>
                  <a:srgbClr val="FFFBFB"/>
                </a:solidFill>
                <a:latin typeface="DM Sans"/>
                <a:ea typeface="DM Sans"/>
                <a:cs typeface="DM Sans"/>
                <a:sym typeface="DM Sans"/>
              </a:rPr>
              <a:t>Online appointment booking</a:t>
            </a:r>
          </a:p>
          <a:p>
            <a:pPr marL="378639" lvl="1" indent="-189320" algn="l">
              <a:lnSpc>
                <a:spcPts val="2420"/>
              </a:lnSpc>
              <a:buFont typeface="Arial"/>
              <a:buChar char="•"/>
            </a:pPr>
            <a:r>
              <a:rPr lang="en-US" sz="1753" spc="171" dirty="0">
                <a:solidFill>
                  <a:srgbClr val="FFFBFB"/>
                </a:solidFill>
                <a:latin typeface="DM Sans"/>
                <a:ea typeface="DM Sans"/>
                <a:cs typeface="DM Sans"/>
                <a:sym typeface="DM Sans"/>
              </a:rPr>
              <a:t>Comprehensive health assessment tools</a:t>
            </a:r>
          </a:p>
          <a:p>
            <a:pPr marL="378639" lvl="1" indent="-189320" algn="l">
              <a:lnSpc>
                <a:spcPts val="2420"/>
              </a:lnSpc>
              <a:buFont typeface="Arial"/>
              <a:buChar char="•"/>
            </a:pPr>
            <a:r>
              <a:rPr lang="en-US" sz="1753" spc="171" dirty="0">
                <a:solidFill>
                  <a:srgbClr val="FFFBFB"/>
                </a:solidFill>
                <a:latin typeface="DM Sans"/>
                <a:ea typeface="DM Sans"/>
                <a:cs typeface="DM Sans"/>
                <a:sym typeface="DM Sans"/>
              </a:rPr>
              <a:t>Integration with medical records (if applicable)</a:t>
            </a:r>
          </a:p>
        </p:txBody>
      </p:sp>
      <p:sp>
        <p:nvSpPr>
          <p:cNvPr id="31" name="TextBox 31"/>
          <p:cNvSpPr txBox="1"/>
          <p:nvPr/>
        </p:nvSpPr>
        <p:spPr>
          <a:xfrm>
            <a:off x="2335030" y="387591"/>
            <a:ext cx="13617940" cy="1594138"/>
          </a:xfrm>
          <a:prstGeom prst="rect">
            <a:avLst/>
          </a:prstGeom>
        </p:spPr>
        <p:txBody>
          <a:bodyPr lIns="0" tIns="0" rIns="0" bIns="0" rtlCol="0" anchor="t">
            <a:spAutoFit/>
          </a:bodyPr>
          <a:lstStyle/>
          <a:p>
            <a:pPr marL="0" lvl="0" indent="0" algn="ctr">
              <a:lnSpc>
                <a:spcPts val="13015"/>
              </a:lnSpc>
              <a:spcBef>
                <a:spcPct val="0"/>
              </a:spcBef>
            </a:pPr>
            <a:r>
              <a:rPr lang="en-US" sz="9431" b="1" spc="924">
                <a:solidFill>
                  <a:srgbClr val="231F20"/>
                </a:solidFill>
                <a:latin typeface="Oswald Bold"/>
                <a:ea typeface="Oswald Bold"/>
                <a:cs typeface="Oswald Bold"/>
                <a:sym typeface="Oswald Bold"/>
              </a:rPr>
              <a:t>STRATEGIES</a:t>
            </a:r>
          </a:p>
        </p:txBody>
      </p:sp>
      <p:sp>
        <p:nvSpPr>
          <p:cNvPr id="32" name="TextBox 32"/>
          <p:cNvSpPr txBox="1"/>
          <p:nvPr/>
        </p:nvSpPr>
        <p:spPr>
          <a:xfrm>
            <a:off x="724190" y="8764071"/>
            <a:ext cx="4825943" cy="520828"/>
          </a:xfrm>
          <a:prstGeom prst="rect">
            <a:avLst/>
          </a:prstGeom>
        </p:spPr>
        <p:txBody>
          <a:bodyPr lIns="0" tIns="0" rIns="0" bIns="0" rtlCol="0" anchor="t">
            <a:spAutoFit/>
          </a:bodyPr>
          <a:lstStyle/>
          <a:p>
            <a:pPr marL="0" lvl="0" indent="0" algn="ctr">
              <a:lnSpc>
                <a:spcPts val="4208"/>
              </a:lnSpc>
              <a:spcBef>
                <a:spcPct val="0"/>
              </a:spcBef>
            </a:pPr>
            <a:r>
              <a:rPr lang="en-US" sz="3049" spc="298">
                <a:solidFill>
                  <a:srgbClr val="FDFBFB"/>
                </a:solidFill>
                <a:latin typeface="Oswald"/>
                <a:ea typeface="Oswald"/>
                <a:cs typeface="Oswald"/>
                <a:sym typeface="Oswald"/>
              </a:rPr>
              <a:t>USER-CENTRIC DESIGN</a:t>
            </a:r>
          </a:p>
        </p:txBody>
      </p:sp>
      <p:sp>
        <p:nvSpPr>
          <p:cNvPr id="33" name="TextBox 33"/>
          <p:cNvSpPr txBox="1"/>
          <p:nvPr/>
        </p:nvSpPr>
        <p:spPr>
          <a:xfrm>
            <a:off x="514839" y="3901684"/>
            <a:ext cx="5244645" cy="3881015"/>
          </a:xfrm>
          <a:prstGeom prst="rect">
            <a:avLst/>
          </a:prstGeom>
        </p:spPr>
        <p:txBody>
          <a:bodyPr lIns="0" tIns="0" rIns="0" bIns="0" rtlCol="0" anchor="t">
            <a:spAutoFit/>
          </a:bodyPr>
          <a:lstStyle/>
          <a:p>
            <a:pPr algn="l">
              <a:lnSpc>
                <a:spcPts val="2613"/>
              </a:lnSpc>
            </a:pPr>
            <a:r>
              <a:rPr lang="en-US" sz="1893" b="1" spc="185">
                <a:solidFill>
                  <a:srgbClr val="FFFBFB"/>
                </a:solidFill>
                <a:latin typeface="DM Sans Bold"/>
                <a:ea typeface="DM Sans Bold"/>
                <a:cs typeface="DM Sans Bold"/>
                <a:sym typeface="DM Sans Bold"/>
              </a:rPr>
              <a:t>1.Intuitive Interface</a:t>
            </a:r>
            <a:r>
              <a:rPr lang="en-US" sz="1893" spc="185">
                <a:solidFill>
                  <a:srgbClr val="FFFBFB"/>
                </a:solidFill>
                <a:latin typeface="DM Sans"/>
                <a:ea typeface="DM Sans"/>
                <a:cs typeface="DM Sans"/>
                <a:sym typeface="DM Sans"/>
              </a:rPr>
              <a:t>: Ensuring the website is easy to navigate, with clear labels and logical organisation.</a:t>
            </a:r>
          </a:p>
          <a:p>
            <a:pPr algn="l">
              <a:lnSpc>
                <a:spcPts val="2613"/>
              </a:lnSpc>
            </a:pPr>
            <a:endParaRPr lang="en-US" sz="1893" spc="185">
              <a:solidFill>
                <a:srgbClr val="FFFBFB"/>
              </a:solidFill>
              <a:latin typeface="DM Sans"/>
              <a:ea typeface="DM Sans"/>
              <a:cs typeface="DM Sans"/>
              <a:sym typeface="DM Sans"/>
            </a:endParaRPr>
          </a:p>
          <a:p>
            <a:pPr algn="l">
              <a:lnSpc>
                <a:spcPts val="2613"/>
              </a:lnSpc>
            </a:pPr>
            <a:r>
              <a:rPr lang="en-US" sz="1893" spc="185">
                <a:solidFill>
                  <a:srgbClr val="FFFBFB"/>
                </a:solidFill>
                <a:latin typeface="DM Sans"/>
                <a:ea typeface="DM Sans"/>
                <a:cs typeface="DM Sans"/>
                <a:sym typeface="DM Sans"/>
              </a:rPr>
              <a:t>2. </a:t>
            </a:r>
            <a:r>
              <a:rPr lang="en-US" sz="1893" b="1" spc="185">
                <a:solidFill>
                  <a:srgbClr val="FFFBFB"/>
                </a:solidFill>
                <a:latin typeface="DM Sans Bold"/>
                <a:ea typeface="DM Sans Bold"/>
                <a:cs typeface="DM Sans Bold"/>
                <a:sym typeface="DM Sans Bold"/>
              </a:rPr>
              <a:t>Mobile-Friendly Design</a:t>
            </a:r>
            <a:r>
              <a:rPr lang="en-US" sz="1893" spc="185">
                <a:solidFill>
                  <a:srgbClr val="FFFBFB"/>
                </a:solidFill>
                <a:latin typeface="DM Sans"/>
                <a:ea typeface="DM Sans"/>
                <a:cs typeface="DM Sans"/>
                <a:sym typeface="DM Sans"/>
              </a:rPr>
              <a:t>: Optimising the website for mobile devices to cater to a wider audience.</a:t>
            </a:r>
          </a:p>
          <a:p>
            <a:pPr algn="l">
              <a:lnSpc>
                <a:spcPts val="2613"/>
              </a:lnSpc>
            </a:pPr>
            <a:endParaRPr lang="en-US" sz="1893" spc="185">
              <a:solidFill>
                <a:srgbClr val="FFFBFB"/>
              </a:solidFill>
              <a:latin typeface="DM Sans"/>
              <a:ea typeface="DM Sans"/>
              <a:cs typeface="DM Sans"/>
              <a:sym typeface="DM Sans"/>
            </a:endParaRPr>
          </a:p>
          <a:p>
            <a:pPr algn="l">
              <a:lnSpc>
                <a:spcPts val="2613"/>
              </a:lnSpc>
            </a:pPr>
            <a:r>
              <a:rPr lang="en-US" sz="1893" spc="185">
                <a:solidFill>
                  <a:srgbClr val="FFFBFB"/>
                </a:solidFill>
                <a:latin typeface="DM Sans"/>
                <a:ea typeface="DM Sans"/>
                <a:cs typeface="DM Sans"/>
                <a:sym typeface="DM Sans"/>
              </a:rPr>
              <a:t>3. </a:t>
            </a:r>
            <a:r>
              <a:rPr lang="en-US" sz="1893" b="1" spc="185">
                <a:solidFill>
                  <a:srgbClr val="FFFBFB"/>
                </a:solidFill>
                <a:latin typeface="DM Sans Bold"/>
                <a:ea typeface="DM Sans Bold"/>
                <a:cs typeface="DM Sans Bold"/>
                <a:sym typeface="DM Sans Bold"/>
              </a:rPr>
              <a:t>Accessibility</a:t>
            </a:r>
            <a:r>
              <a:rPr lang="en-US" sz="1893" spc="185">
                <a:solidFill>
                  <a:srgbClr val="FFFBFB"/>
                </a:solidFill>
                <a:latin typeface="DM Sans"/>
                <a:ea typeface="DM Sans"/>
                <a:cs typeface="DM Sans"/>
                <a:sym typeface="DM Sans"/>
              </a:rPr>
              <a:t>: Making the website accessible to users with less knowledge of technology.</a:t>
            </a:r>
          </a:p>
          <a:p>
            <a:pPr algn="l">
              <a:lnSpc>
                <a:spcPts val="2613"/>
              </a:lnSpc>
            </a:pPr>
            <a:endParaRPr lang="en-US" sz="1893" spc="185">
              <a:solidFill>
                <a:srgbClr val="FFFBFB"/>
              </a:solidFill>
              <a:latin typeface="DM Sans"/>
              <a:ea typeface="DM Sans"/>
              <a:cs typeface="DM Sans"/>
              <a:sym typeface="DM Sans"/>
            </a:endParaRPr>
          </a:p>
        </p:txBody>
      </p:sp>
      <p:sp>
        <p:nvSpPr>
          <p:cNvPr id="34" name="TextBox 34"/>
          <p:cNvSpPr txBox="1"/>
          <p:nvPr/>
        </p:nvSpPr>
        <p:spPr>
          <a:xfrm>
            <a:off x="6402695" y="8764071"/>
            <a:ext cx="5483020" cy="520828"/>
          </a:xfrm>
          <a:prstGeom prst="rect">
            <a:avLst/>
          </a:prstGeom>
        </p:spPr>
        <p:txBody>
          <a:bodyPr lIns="0" tIns="0" rIns="0" bIns="0" rtlCol="0" anchor="t">
            <a:spAutoFit/>
          </a:bodyPr>
          <a:lstStyle/>
          <a:p>
            <a:pPr marL="0" lvl="0" indent="0" algn="ctr">
              <a:lnSpc>
                <a:spcPts val="4208"/>
              </a:lnSpc>
              <a:spcBef>
                <a:spcPct val="0"/>
              </a:spcBef>
            </a:pPr>
            <a:r>
              <a:rPr lang="en-US" sz="3049" spc="298">
                <a:solidFill>
                  <a:srgbClr val="FDFBFB"/>
                </a:solidFill>
                <a:latin typeface="Oswald"/>
                <a:ea typeface="Oswald"/>
                <a:cs typeface="Oswald"/>
                <a:sym typeface="Oswald"/>
              </a:rPr>
              <a:t>COMPREHENSIVE FEATURES</a:t>
            </a:r>
          </a:p>
        </p:txBody>
      </p:sp>
      <p:sp>
        <p:nvSpPr>
          <p:cNvPr id="35" name="TextBox 35"/>
          <p:cNvSpPr txBox="1"/>
          <p:nvPr/>
        </p:nvSpPr>
        <p:spPr>
          <a:xfrm>
            <a:off x="12480976" y="8764071"/>
            <a:ext cx="5339724" cy="520828"/>
          </a:xfrm>
          <a:prstGeom prst="rect">
            <a:avLst/>
          </a:prstGeom>
        </p:spPr>
        <p:txBody>
          <a:bodyPr lIns="0" tIns="0" rIns="0" bIns="0" rtlCol="0" anchor="t">
            <a:spAutoFit/>
          </a:bodyPr>
          <a:lstStyle/>
          <a:p>
            <a:pPr marL="0" lvl="0" indent="0" algn="ctr">
              <a:lnSpc>
                <a:spcPts val="4208"/>
              </a:lnSpc>
              <a:spcBef>
                <a:spcPct val="0"/>
              </a:spcBef>
            </a:pPr>
            <a:r>
              <a:rPr lang="en-US" sz="3049" spc="298">
                <a:solidFill>
                  <a:srgbClr val="FDFBFB"/>
                </a:solidFill>
                <a:latin typeface="Oswald"/>
                <a:ea typeface="Oswald"/>
                <a:cs typeface="Oswald"/>
                <a:sym typeface="Oswald"/>
              </a:rPr>
              <a:t>DATA PRIVACY AND SECURITY</a:t>
            </a:r>
          </a:p>
        </p:txBody>
      </p:sp>
      <p:sp>
        <p:nvSpPr>
          <p:cNvPr id="36" name="TextBox 36"/>
          <p:cNvSpPr txBox="1"/>
          <p:nvPr/>
        </p:nvSpPr>
        <p:spPr>
          <a:xfrm>
            <a:off x="12233043" y="3620006"/>
            <a:ext cx="5540118" cy="4308872"/>
          </a:xfrm>
          <a:prstGeom prst="rect">
            <a:avLst/>
          </a:prstGeom>
        </p:spPr>
        <p:txBody>
          <a:bodyPr wrap="square" lIns="0" tIns="0" rIns="0" bIns="0" rtlCol="0" anchor="t">
            <a:spAutoFit/>
          </a:bodyPr>
          <a:lstStyle/>
          <a:p>
            <a:pPr marL="408806" lvl="1" indent="-204403" algn="l">
              <a:buAutoNum type="arabicPeriod"/>
            </a:pPr>
            <a:r>
              <a:rPr lang="en-US" sz="1750" b="1" spc="185" dirty="0">
                <a:solidFill>
                  <a:srgbClr val="FFFBFB"/>
                </a:solidFill>
                <a:latin typeface="DM Sans Bold"/>
                <a:ea typeface="DM Sans Bold"/>
                <a:cs typeface="DM Sans Bold"/>
                <a:sym typeface="DM Sans Bold"/>
              </a:rPr>
              <a:t>Importance of Data Privacy and Security: </a:t>
            </a:r>
            <a:r>
              <a:rPr lang="en-US" sz="1750" spc="185" dirty="0">
                <a:solidFill>
                  <a:srgbClr val="FFFBFB"/>
                </a:solidFill>
                <a:latin typeface="DM Sans" pitchFamily="2" charset="0"/>
                <a:ea typeface="DM Sans Bold"/>
                <a:cs typeface="DM Sans Bold"/>
                <a:sym typeface="DM Sans Bold"/>
              </a:rPr>
              <a:t>Emphasize that protecting user data is crucial for building trust .</a:t>
            </a:r>
          </a:p>
          <a:p>
            <a:pPr marL="408806" lvl="1" indent="-204403" algn="l">
              <a:buAutoNum type="arabicPeriod"/>
            </a:pPr>
            <a:endParaRPr lang="en-US" sz="1750" spc="185" dirty="0">
              <a:solidFill>
                <a:srgbClr val="FFFBFB"/>
              </a:solidFill>
              <a:latin typeface="DM Sans" pitchFamily="2" charset="0"/>
              <a:ea typeface="DM Sans Bold"/>
              <a:cs typeface="DM Sans Bold"/>
              <a:sym typeface="DM Sans Bold"/>
            </a:endParaRPr>
          </a:p>
          <a:p>
            <a:pPr marL="408806" lvl="1" indent="-204403" algn="l">
              <a:buAutoNum type="arabicPeriod"/>
            </a:pPr>
            <a:r>
              <a:rPr lang="en-US" sz="1750" b="1" spc="185" dirty="0">
                <a:solidFill>
                  <a:srgbClr val="FFFBFB"/>
                </a:solidFill>
                <a:latin typeface="DM Sans" pitchFamily="2" charset="0"/>
                <a:ea typeface="DM Sans Bold"/>
                <a:cs typeface="DM Sans Bold"/>
                <a:sym typeface="DM Sans Bold"/>
              </a:rPr>
              <a:t>Data Protection Measures</a:t>
            </a:r>
            <a:r>
              <a:rPr lang="en-US" sz="1750" spc="185" dirty="0">
                <a:solidFill>
                  <a:srgbClr val="FFFBFB"/>
                </a:solidFill>
                <a:latin typeface="DM Sans" pitchFamily="2" charset="0"/>
                <a:ea typeface="DM Sans Bold"/>
                <a:cs typeface="DM Sans Bold"/>
                <a:sym typeface="DM Sans Bold"/>
              </a:rPr>
              <a:t>: Highlight the strategies in place, such as encryption, access controls, and regular security audits, to safeguard personal and usage data.</a:t>
            </a:r>
          </a:p>
          <a:p>
            <a:pPr marL="408806" lvl="1" indent="-204403" algn="l">
              <a:buAutoNum type="arabicPeriod"/>
            </a:pPr>
            <a:endParaRPr lang="en-US" sz="1750" spc="185" dirty="0">
              <a:solidFill>
                <a:srgbClr val="FFFBFB"/>
              </a:solidFill>
              <a:latin typeface="DM Sans" pitchFamily="2" charset="0"/>
              <a:ea typeface="DM Sans Bold"/>
              <a:cs typeface="DM Sans Bold"/>
              <a:sym typeface="DM Sans Bold"/>
            </a:endParaRPr>
          </a:p>
          <a:p>
            <a:pPr marL="408806" lvl="1" indent="-204403" algn="l">
              <a:buAutoNum type="arabicPeriod"/>
            </a:pPr>
            <a:r>
              <a:rPr lang="en-US" sz="1750" b="1" spc="185" dirty="0">
                <a:solidFill>
                  <a:srgbClr val="FFFBFB"/>
                </a:solidFill>
                <a:latin typeface="DM Sans Bold"/>
                <a:ea typeface="DM Sans Bold"/>
                <a:cs typeface="DM Sans Bold"/>
                <a:sym typeface="DM Sans Bold"/>
              </a:rPr>
              <a:t>User Rights and Best Practices: </a:t>
            </a:r>
            <a:r>
              <a:rPr lang="en-US" sz="1750" spc="185" dirty="0">
                <a:solidFill>
                  <a:srgbClr val="FFFBFB"/>
                </a:solidFill>
                <a:latin typeface="DM Sans" pitchFamily="2" charset="0"/>
                <a:ea typeface="DM Sans Bold"/>
                <a:cs typeface="DM Sans Bold"/>
                <a:sym typeface="DM Sans Bold"/>
              </a:rPr>
              <a:t>Inform users about their rights regarding data access and deletion, and encourage practices like strong password management and awareness of privacy settings.</a:t>
            </a:r>
            <a:endParaRPr lang="en-US" sz="1750" spc="185" dirty="0">
              <a:solidFill>
                <a:srgbClr val="FFFBFB"/>
              </a:solidFill>
              <a:latin typeface="DM Sans" pitchFamily="2" charset="0"/>
              <a:ea typeface="DM Sans"/>
              <a:cs typeface="DM Sans"/>
              <a:sym typeface="DM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sp>
        <p:nvSpPr>
          <p:cNvPr id="3" name="Freeform 3"/>
          <p:cNvSpPr/>
          <p:nvPr/>
        </p:nvSpPr>
        <p:spPr>
          <a:xfrm rot="-10580377">
            <a:off x="9407140" y="-9309963"/>
            <a:ext cx="24036383" cy="24664199"/>
          </a:xfrm>
          <a:custGeom>
            <a:avLst/>
            <a:gdLst/>
            <a:ahLst/>
            <a:cxnLst/>
            <a:rect l="l" t="t" r="r" b="b"/>
            <a:pathLst>
              <a:path w="24036383" h="24664199">
                <a:moveTo>
                  <a:pt x="0" y="0"/>
                </a:moveTo>
                <a:lnTo>
                  <a:pt x="24036383" y="0"/>
                </a:lnTo>
                <a:lnTo>
                  <a:pt x="24036383" y="24664198"/>
                </a:lnTo>
                <a:lnTo>
                  <a:pt x="0" y="2466419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028700" y="1959244"/>
            <a:ext cx="9757240" cy="1925758"/>
          </a:xfrm>
          <a:prstGeom prst="rect">
            <a:avLst/>
          </a:prstGeom>
        </p:spPr>
        <p:txBody>
          <a:bodyPr lIns="0" tIns="0" rIns="0" bIns="0" rtlCol="0" anchor="t">
            <a:spAutoFit/>
          </a:bodyPr>
          <a:lstStyle/>
          <a:p>
            <a:pPr marL="0" lvl="0" indent="0" algn="l">
              <a:lnSpc>
                <a:spcPts val="15683"/>
              </a:lnSpc>
              <a:spcBef>
                <a:spcPct val="0"/>
              </a:spcBef>
            </a:pPr>
            <a:r>
              <a:rPr lang="en-US" sz="11364" b="1" spc="1113">
                <a:solidFill>
                  <a:srgbClr val="231F20"/>
                </a:solidFill>
                <a:latin typeface="Oswald Bold"/>
                <a:ea typeface="Oswald Bold"/>
                <a:cs typeface="Oswald Bold"/>
                <a:sym typeface="Oswald Bold"/>
              </a:rPr>
              <a:t>THANK YOU</a:t>
            </a:r>
          </a:p>
        </p:txBody>
      </p:sp>
      <p:sp>
        <p:nvSpPr>
          <p:cNvPr id="5" name="Freeform 5"/>
          <p:cNvSpPr/>
          <p:nvPr/>
        </p:nvSpPr>
        <p:spPr>
          <a:xfrm flipH="1">
            <a:off x="-4254153" y="7476061"/>
            <a:ext cx="11881594" cy="3564478"/>
          </a:xfrm>
          <a:custGeom>
            <a:avLst/>
            <a:gdLst/>
            <a:ahLst/>
            <a:cxnLst/>
            <a:rect l="l" t="t" r="r" b="b"/>
            <a:pathLst>
              <a:path w="11881594" h="3564478">
                <a:moveTo>
                  <a:pt x="11881594" y="0"/>
                </a:moveTo>
                <a:lnTo>
                  <a:pt x="0" y="0"/>
                </a:lnTo>
                <a:lnTo>
                  <a:pt x="0" y="3564478"/>
                </a:lnTo>
                <a:lnTo>
                  <a:pt x="11881594" y="3564478"/>
                </a:lnTo>
                <a:lnTo>
                  <a:pt x="11881594"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028700" y="8019306"/>
            <a:ext cx="1238994" cy="1238994"/>
          </a:xfrm>
          <a:custGeom>
            <a:avLst/>
            <a:gdLst/>
            <a:ahLst/>
            <a:cxnLst/>
            <a:rect l="l" t="t" r="r" b="b"/>
            <a:pathLst>
              <a:path w="1238994" h="1238994">
                <a:moveTo>
                  <a:pt x="0" y="0"/>
                </a:moveTo>
                <a:lnTo>
                  <a:pt x="1238994" y="0"/>
                </a:lnTo>
                <a:lnTo>
                  <a:pt x="1238994" y="1238994"/>
                </a:lnTo>
                <a:lnTo>
                  <a:pt x="0" y="1238994"/>
                </a:lnTo>
                <a:lnTo>
                  <a:pt x="0" y="0"/>
                </a:lnTo>
                <a:close/>
              </a:path>
            </a:pathLst>
          </a:custGeom>
          <a:blipFill>
            <a:blip r:embed="rId5"/>
            <a:stretch>
              <a:fillRect/>
            </a:stretch>
          </a:blipFill>
        </p:spPr>
      </p:sp>
      <p:sp>
        <p:nvSpPr>
          <p:cNvPr id="7" name="TextBox 7"/>
          <p:cNvSpPr txBox="1"/>
          <p:nvPr/>
        </p:nvSpPr>
        <p:spPr>
          <a:xfrm>
            <a:off x="1686644" y="8974119"/>
            <a:ext cx="1865640" cy="284181"/>
          </a:xfrm>
          <a:prstGeom prst="rect">
            <a:avLst/>
          </a:prstGeom>
        </p:spPr>
        <p:txBody>
          <a:bodyPr lIns="0" tIns="0" rIns="0" bIns="0" rtlCol="0" anchor="t">
            <a:spAutoFit/>
          </a:bodyPr>
          <a:lstStyle/>
          <a:p>
            <a:pPr marL="0" lvl="0" indent="0" algn="ctr">
              <a:lnSpc>
                <a:spcPts val="2394"/>
              </a:lnSpc>
              <a:spcBef>
                <a:spcPct val="0"/>
              </a:spcBef>
            </a:pPr>
            <a:r>
              <a:rPr lang="en-US" sz="1735" b="1" spc="170">
                <a:solidFill>
                  <a:srgbClr val="231F20"/>
                </a:solidFill>
                <a:latin typeface="Montserrat Classic Bold"/>
                <a:ea typeface="Montserrat Classic Bold"/>
                <a:cs typeface="Montserrat Classic Bold"/>
                <a:sym typeface="Montserrat Classic Bold"/>
              </a:rPr>
              <a:t>VHC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1018</Words>
  <Application>Microsoft Office PowerPoint</Application>
  <PresentationFormat>Custom</PresentationFormat>
  <Paragraphs>158</Paragraphs>
  <Slides>13</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13</vt:i4>
      </vt:variant>
    </vt:vector>
  </HeadingPairs>
  <TitlesOfParts>
    <vt:vector size="24" baseType="lpstr">
      <vt:lpstr>DM Sans Italics</vt:lpstr>
      <vt:lpstr>Calibri</vt:lpstr>
      <vt:lpstr>Montserrat Classic Bold</vt:lpstr>
      <vt:lpstr>Arial</vt:lpstr>
      <vt:lpstr>Oswald</vt:lpstr>
      <vt:lpstr>Montserrat Light</vt:lpstr>
      <vt:lpstr>DM Sans</vt:lpstr>
      <vt:lpstr>Open Sauce Bold</vt:lpstr>
      <vt:lpstr>Oswald Bold</vt:lpstr>
      <vt:lpstr>DM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Grey minimalist business project presentation </dc:title>
  <cp:lastModifiedBy>Mamta Singh</cp:lastModifiedBy>
  <cp:revision>4</cp:revision>
  <dcterms:created xsi:type="dcterms:W3CDTF">2006-08-16T00:00:00Z</dcterms:created>
  <dcterms:modified xsi:type="dcterms:W3CDTF">2026-08-04T13:05:30Z</dcterms:modified>
  <dc:identifier>DAGTACjj_44</dc:identifier>
</cp:coreProperties>
</file>